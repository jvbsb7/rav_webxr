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89368b736c450b" /><Relationship Type="http://schemas.openxmlformats.org/officeDocument/2006/relationships/extended-properties" Target="/docProps/app.xml" Id="Rd58aebae5c0a4528" /><Relationship Type="http://schemas.openxmlformats.org/officeDocument/2006/relationships/officeDocument" Target="/ppt/presentation.xml" Id="R3d3a3715e746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a4ea0b13a4c50"/>
  </p:sldMasterIdLst>
  <p:notesMasterIdLst>
    <p:notesMasterId xmlns:r="http://schemas.openxmlformats.org/officeDocument/2006/relationships" r:id="R0ebfd938beae4734"/>
  </p:notesMasterIdLst>
  <p:sldIdLst>
    <p:sldId xmlns:r="http://schemas.openxmlformats.org/officeDocument/2006/relationships" id="256" r:id="R218f7b116a3944eb"/>
    <p:sldId xmlns:r="http://schemas.openxmlformats.org/officeDocument/2006/relationships" id="257" r:id="R214313c3beae4bdd"/>
    <p:sldId xmlns:r="http://schemas.openxmlformats.org/officeDocument/2006/relationships" id="258" r:id="Rdf1b2133cd0d46fa"/>
    <p:sldId xmlns:r="http://schemas.openxmlformats.org/officeDocument/2006/relationships" id="259" r:id="R1b5ad28b55e74536"/>
    <p:sldId xmlns:r="http://schemas.openxmlformats.org/officeDocument/2006/relationships" id="260" r:id="R646fde97ede54953"/>
    <p:sldId xmlns:r="http://schemas.openxmlformats.org/officeDocument/2006/relationships" id="261" r:id="R658029b6870c4536"/>
    <p:sldId xmlns:r="http://schemas.openxmlformats.org/officeDocument/2006/relationships" id="262" r:id="Re3a7d9fd2d7c4e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f421747b6f44fd" /><Relationship Type="http://schemas.openxmlformats.org/officeDocument/2006/relationships/slideMaster" Target="/ppt/slideMasters/slideMaster1.xml" Id="Rb2ca4ea0b13a4c50" /><Relationship Type="http://schemas.openxmlformats.org/officeDocument/2006/relationships/notesMaster" Target="/ppt/notesMasters/notesMaster1.xml" Id="R0ebfd938beae4734" /><Relationship Type="http://schemas.openxmlformats.org/officeDocument/2006/relationships/presProps" Target="/ppt/presProps.xml" Id="R58f546ac24fa4daf" /><Relationship Type="http://schemas.openxmlformats.org/officeDocument/2006/relationships/tableStyles" Target="/ppt/tableStyles.xml" Id="Rc2fedbde6fce49bd" /><Relationship Type="http://schemas.openxmlformats.org/officeDocument/2006/relationships/slide" Target="/ppt/slides/slide1.xml" Id="R218f7b116a3944eb" /><Relationship Type="http://schemas.openxmlformats.org/officeDocument/2006/relationships/slide" Target="/ppt/slides/slide2.xml" Id="R214313c3beae4bdd" /><Relationship Type="http://schemas.openxmlformats.org/officeDocument/2006/relationships/slide" Target="/ppt/slides/slide3.xml" Id="Rdf1b2133cd0d46fa" /><Relationship Type="http://schemas.openxmlformats.org/officeDocument/2006/relationships/slide" Target="/ppt/slides/slide4.xml" Id="R1b5ad28b55e74536" /><Relationship Type="http://schemas.openxmlformats.org/officeDocument/2006/relationships/slide" Target="/ppt/slides/slide5.xml" Id="R646fde97ede54953" /><Relationship Type="http://schemas.openxmlformats.org/officeDocument/2006/relationships/slide" Target="/ppt/slides/slide6.xml" Id="R658029b6870c4536" /><Relationship Type="http://schemas.openxmlformats.org/officeDocument/2006/relationships/slide" Target="/ppt/slides/slide7.xml" Id="Re3a7d9fd2d7c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cdc6ea8ed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bd452bf4d4c1b" /><Relationship Type="http://schemas.openxmlformats.org/officeDocument/2006/relationships/notesMaster" Target="/ppt/notesMasters/notesMaster1.xml" Id="Rac8fefeefd24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07221fcaa4040" /><Relationship Type="http://schemas.openxmlformats.org/officeDocument/2006/relationships/notesMaster" Target="/ppt/notesMasters/notesMaster1.xml" Id="Ra64eb0ff7944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29493312ef4bc0" /><Relationship Type="http://schemas.openxmlformats.org/officeDocument/2006/relationships/notesMaster" Target="/ppt/notesMasters/notesMaster1.xml" Id="Rc56fd2787bf94c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00fe476ea945d0" /><Relationship Type="http://schemas.openxmlformats.org/officeDocument/2006/relationships/notesMaster" Target="/ppt/notesMasters/notesMaster1.xml" Id="R57d188d6a594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c866a92fd14c4a" /><Relationship Type="http://schemas.openxmlformats.org/officeDocument/2006/relationships/notesMaster" Target="/ppt/notesMasters/notesMaster1.xml" Id="Re4c2a477e3d4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baa87b26514a33" /><Relationship Type="http://schemas.openxmlformats.org/officeDocument/2006/relationships/notesMaster" Target="/ppt/notesMasters/notesMaster1.xml" Id="Rdea45e87bf7745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6e2fe4fbe496a" /><Relationship Type="http://schemas.openxmlformats.org/officeDocument/2006/relationships/notesMaster" Target="/ppt/notesMasters/notesMaster1.xml" Id="R4389d46dfe6743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Grupo 1. Cena: bateria acústica. Integrantes conforme docs/especificacao.md, seção 1. Fonte da imagem: docs/evidencias/cena-slide.png, captura real da aplicação. A etiqueta local da entrega é modulo-03; a publicação remota ainda depende da autenticação do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Tarefa completa planejada. Neste marco existem os objetos em geometria crua, a hierarquia e a operação de troca de pai; montagem e alcance ainda não estão implementados. Alternativa considerada: medidas próximas de um kit real. O custo aceito é a validação perceptiva e corporal. Cilindros e discos diferem por diâmetro e profundidade. As folgas ainda são hipóteses, não resultados de teste físico. Todos os números estão na especificação e nas constantes do domínio.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janela roda em WebGL, sem abrir sessão XR inline. Em VR a referência pretendida é local-floor. Em AR, viewer serve ao raio de hit-test, enquanto local serve à pose dos objetos. A mesa é o registro físico, não um nome de XRReferenceSpace. A declaração é planejamento, não comprovação de suporte nem implementação dos regimes imersivos. Fonte técnica: https://www.w3.org/TR/webxr/.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consulta é real. isSessionSupported pergunta pelos modos; requestSession consulta recursos, espaços, entradas e poses. A falta de um item em enabledFeatures não distingue, sozinha, hardware ausente e autorização negada. Não inventamos essa causa. navigator.xr ausente e erros de permissão da sessão têm mensagens próprias. No container, inline foi suportado e os dois modos imersivos não. Falta repetir o mesmo endereço em um celular ou visor físico, e isso consta no slide 7. Fonte: docs/evidencias/sonda-desktop.txt e https://www.w3.org/TR/webxr/.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parcial do grafo real, com os nós intermediários sala e bateria omitidos para caber. O tubo móvel também pertence ao suporte; os demais apoios e a mesa constam da árvore completa na aplicação. O painel é malha da cena e filho da estrutura, não HTML sobreposto. O parentesco vem da regulagem física do apoio. No exemplo do professor a engrenagem acompanha o eixo; na bateria não há esse eixo giratório, então a demonstração usa regulagem de altura do suporte. Este é um caso concreto em que a decisão de domínio do professor não foi copiada.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medidos no teste de navegador, campo troca.ultimaTroca. O erro bruto permanece no JSON, embora as coordenadas no slide usem seis casas decimais. attach preserva posição, rotação e escala de mundo para as condições permitidas. O teste numérico também confere a matriz inteira com pais rotacionados e escala uniforme. A rotina rejeita ciclos e escalas não uniformes, nulas ou negativas antes de modificar a árvore. A operação ocorre uma vez. Nos quadros seguintes, o filho acompanha o novo pai por composição.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CPU: 0.7441666666961585 ms. Intervalo: 30.83285 ms. Teto: 16.666666666666668 ms. Máquina, navegador e viewport integrais em docs/evidencias/browser.json. A CPU mede trabalho do callback até o retorno de render, não o tempo completo da GPU. O intervalo alto é uma limitação do resultado obtido e não prova desempenho nos aparelhos do grupo. O teste numérico de 30, 60 e 144 FPS verifica a fórmula de tempo; a comparação física continua pendente. Também pendem publicação remota da etiqueta modulo-03, sonda em duas classes, execução por alguém de fora e ensaio de cada integrante em um slide alheio. Montagem completa, alcance sentado e VR/AR da bateria pertencem aos módulos seguintes.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99f17358444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64e6a54f748fc" /><Relationship Type="http://schemas.openxmlformats.org/officeDocument/2006/relationships/slideLayout" Target="/ppt/slideLayouts/slideLayout1.xml" Id="Rde8d2f47f50248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d2f47f50248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c7496828d468c" /><Relationship Type="http://schemas.openxmlformats.org/officeDocument/2006/relationships/image" Target="/ppt/media/image.png" Id="R2e98063d47344026" /><Relationship Type="http://schemas.openxmlformats.org/officeDocument/2006/relationships/hyperlink" Target="https://github.com/JvbsB7/RaV_WebXR" TargetMode="External" Id="R4001be064d6246d9" /><Relationship Type="http://schemas.openxmlformats.org/officeDocument/2006/relationships/notesSlide" Target="/ppt/notesSlides/notesSlide1.xml" Id="Re216f599cfa54f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de4dbe70b4925" /><Relationship Type="http://schemas.openxmlformats.org/officeDocument/2006/relationships/notesSlide" Target="/ppt/notesSlides/notesSlide2.xml" Id="Rfb902e703ab846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c45ba8ee4768" /><Relationship Type="http://schemas.openxmlformats.org/officeDocument/2006/relationships/notesSlide" Target="/ppt/notesSlides/notesSlide3.xml" Id="Rd89588d49feb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0f54e45a04f44" /><Relationship Type="http://schemas.openxmlformats.org/officeDocument/2006/relationships/notesSlide" Target="/ppt/notesSlides/notesSlide4.xml" Id="R4a94084ff9c842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55d5898a46c5" /><Relationship Type="http://schemas.openxmlformats.org/officeDocument/2006/relationships/notesSlide" Target="/ppt/notesSlides/notesSlide5.xml" Id="Rcdcc63a9541b4f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c0a52f19c46a7" /><Relationship Type="http://schemas.openxmlformats.org/officeDocument/2006/relationships/notesSlide" Target="/ppt/notesSlides/notesSlide6.xml" Id="Rd966cfd1499049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73a2f4bd74ae0" /><Relationship Type="http://schemas.openxmlformats.org/officeDocument/2006/relationships/image" Target="/ppt/media/image2.png" Id="Re26d4b5c08dc488d" /><Relationship Type="http://schemas.openxmlformats.org/officeDocument/2006/relationships/notesSlide" Target="/ppt/notesSlides/notesSlide7.xml" Id="R16f19a393623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25A9A-BAE0-439B-BDB1-A1086CC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5AD88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D5AD88"/>
                </a:solidFill>
                <a:latin typeface="Nimbus Sans"/>
                <a:ea typeface="Nimbus Sans"/>
                <a:cs typeface="Nimbus Sans"/>
              </a:rPr>
              <a:t>GRUPO 01 / MÓDULO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74B83-C7FE-4E94-8D9C-89D6616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6000" b="1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Bateria</a:t>
            </a:r>
          </a:p>
          <a:p xmlns:a="http://schemas.openxmlformats.org/drawingml/2006/main">
            <a:pPr>
              <a:defRPr sz="6000" b="1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6000" b="1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acústica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39677-FFA2-4D4D-9835-C7F97176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CD7D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CCD7DD"/>
                </a:solidFill>
                <a:latin typeface="Nimbus Sans"/>
                <a:ea typeface="Nimbus Sans"/>
                <a:cs typeface="Nimbus Sans"/>
              </a:rPr>
              <a:t>Montagem de seis peças e</a:t>
            </a:r>
          </a:p>
          <a:p xmlns:a="http://schemas.openxmlformats.org/drawingml/2006/main">
            <a:pPr>
              <a:defRPr sz="2100" b="0">
                <a:solidFill>
                  <a:srgbClr val="CCD7DD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CCD7DD"/>
                </a:solidFill>
                <a:latin typeface="Nimbus Sans"/>
                <a:ea typeface="Nimbus Sans"/>
                <a:cs typeface="Nimbus Sans"/>
              </a:rPr>
              <a:t>verificação de alcance sentado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8063d47344026"/>
          <a:stretch xmlns:a="http://schemas.openxmlformats.org/drawingml/2006/main"/>
        </p:blipFill>
        <p:spPr>
          <a:xfrm xmlns:a="http://schemas.openxmlformats.org/drawingml/2006/main">
            <a:off x="5734050" y="1097935"/>
            <a:ext cx="5905500" cy="4033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366E6-4E4E-4582-90AC-7CAC863D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Ian Jabriel, João Vitor, Gabriel Lenzi</a:t>
            </a:r>
          </a:p>
          <a:p xmlns:a="http://schemas.openxmlformats.org/drawingml/2006/main">
            <a:pPr>
              <a:defRPr sz="1875" b="0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Vinicius Gatti, Gabriel Verri, David Martins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B5666-1292-49C0-8E87-D9A21E6C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D1D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ED1DF"/>
                </a:solidFill>
                <a:latin typeface="Nimbus Sans"/>
                <a:ea typeface="Nimbus Sans"/>
                <a:cs typeface="Nimbus Sans"/>
                <a:hlinkClick xmlns:r="http://schemas.openxmlformats.org/officeDocument/2006/relationships" r:id="R4001be064d6246d9"/>
              </a:rPr>
              <a:t>https://github.com/JvbsB7/RaV_WebXR</a:t>
            </a:r>
          </a:p>
        </p:txBody>
      </p:sp>
    </p:spTree>
    <p:extLst>
      <p:ext uri="{BB962C8B-B14F-4D97-AF65-F5344CB8AC3E}">
        <p14:creationId xmlns:p14="http://schemas.microsoft.com/office/powerpoint/2010/main" val="578454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450E0-B338-401A-9950-B1369B2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 cena e a tarefa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CA721-2AD7-4F56-A07E-2A8FDEA4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B8B34-43FA-42F6-8D34-1D20590D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Montar as seis peças e</a:t>
            </a:r>
          </a:p>
          <a:p xmlns:a="http://schemas.openxmlformats.org/drawingml/2006/main">
            <a:pPr>
              <a:defRPr sz="240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verificar o alcance sentado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CC64C-4F52-461B-A4D3-101A784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Sucesso planejado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C2616-3A92-4256-B20C-7EF0E0C7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Peças nos apoios corretos,</a:t>
            </a:r>
          </a:p>
          <a:p xmlns:a="http://schemas.openxmlformats.org/drawingml/2006/main">
            <a:pPr>
              <a:def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nas alturas previstas e</a:t>
            </a:r>
          </a:p>
          <a:p xmlns:a="http://schemas.openxmlformats.org/drawingml/2006/main">
            <a:pPr>
              <a:def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alcançáveis com os bastões.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5478D-62CD-4D5E-9D29-6857CCC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190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Peças na mesa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CF8E1-3F2A-4D1C-B2E7-FF2916D4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190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Montagem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3FA4A-4FE6-490A-978F-636CAA9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9911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Alcance sentado</a:t>
            </a:r>
          </a:p>
        </p:txBody>
      </p: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04975" y="47625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0350" y="5205413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0" y="1381125"/>
          <a:ext xmlns:a="http://schemas.openxmlformats.org/drawingml/2006/main" cx="5867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71900"/>
              </a:tblGrid>
              <a:tr h="44903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Peça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Ø / profundidade (m)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Caixa 1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0,30 / 0,18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Caixa 2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0,36 / 0,22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Caixa 3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0,42 / 0,28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Caixa 4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0,48 / 0,35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Prato 1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0,40 / 0,002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Prato 2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0,55 / 0,003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2A817-E829-4626-BF4B-E272B47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95825"/>
            <a:ext cx="586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Mesa: 2,20 × 1,20 m. Banco: 0,50 m.</a:t>
            </a:r>
          </a:p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Bastões: 0,40 m, ocultos no início.</a:t>
            </a:r>
          </a:p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Estrutura com apoios de 0,62 a 1,10 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03616-D7CF-4924-A2BD-3437FA7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Escolha: passo de 6 cm; diâmetros quase iguais confundiriam peças.</a:t>
            </a:r>
          </a:p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Custo: distinguir peças e validar alcance. Armadilha: perder a referência de tamanho ao pegar uma peça.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0EB66-07B6-4A90-8CAF-189FCDD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docs/especificacao.md, seções 1–6; ts/src/bateria/dominio.ts</a:t>
            </a:r>
          </a:p>
        </p:txBody>
      </p:sp>
    </p:spTree>
    <p:extLst>
      <p:ext uri="{BB962C8B-B14F-4D97-AF65-F5344CB8AC3E}">
        <p14:creationId xmlns:p14="http://schemas.microsoft.com/office/powerpoint/2010/main" val="1709604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0C212-555E-4B4B-8E07-80E268EF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Os três regimes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32162-18E4-405B-8188-A9F5E3F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00175"/>
          <a:ext xmlns:a="http://schemas.openxmlformats.org/drawingml/2006/main" cx="109728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2066925"/>
                <a:gridCol w="2543175"/>
                <a:gridCol w="2619375"/>
                <a:gridCol w="2619375"/>
              </a:tblGrid>
              <a:tr h="733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Regime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Mundo observado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Referência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Rastreia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Registro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Tela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Exibe na janela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Origem virtual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Mouse, sem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corpo rastreado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Sala virtual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VR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Substitui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local-floor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Cabeça e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entradas concedidas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Chão físico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1:1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Preserva e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sobrepõe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local + viewer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para o raio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Pose e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superfícies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Mesa escolhida</a:t>
                      </a:r>
                    </a:p>
                    <a:p>
                      <a:r>
                        <a:rPr sz="1800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1:5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F8E6C-991E-42BC-99BF-88DF450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id: 'immersive-ar',</a:t>
            </a:r>
          </a:p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referencia: 'local; viewer para o raio do hit-test',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DC5B0-AE5C-4D21-8A28-3F5A0430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Hoje: cena por tela. VR e AR são compromissos para os próximos módulos.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54996-40D3-4897-B559-75537934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Alternativa: um registro único. Descarte: origem virtual, chão e mesa exigem relações diferentes.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C62D3-20BA-4F1E-ABF4-627D836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ts/src/bancada/modes/regimes.ts; docs/especificacao.md, seção 9</a:t>
            </a:r>
          </a:p>
        </p:txBody>
      </p:sp>
    </p:spTree>
    <p:extLst>
      <p:ext uri="{BB962C8B-B14F-4D97-AF65-F5344CB8AC3E}">
        <p14:creationId xmlns:p14="http://schemas.microsoft.com/office/powerpoint/2010/main" val="227542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ECAE-C8A6-448A-A7F8-22B7A227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O que o aparelho oferece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07A75-C071-4FAD-877D-B060FE4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839E-B79D-41EF-873C-6306CFE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const suportado: boolean = await xr.isSessionSupported(regime.id);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027BA-E2FE-47DF-AB7E-159CB39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const sessao: XRSession = await xr.requestSession(modo, {</a:t>
            </a:r>
          </a:p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optionalFeatures: nomesConsultados(),</a:t>
            </a:r>
          </a:p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});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7D254-8FE8-4B92-BD40-74D6F30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API ausente ≠ sessão negada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7604F-C1DF-4309-A59E-26C0207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Recurso fora da lista: não concedido. A causa pode não estar disponível.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4238625"/>
          <a:ext xmlns:a="http://schemas.openxmlformats.org/drawingml/2006/main" cx="109728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34050"/>
                <a:gridCol w="2381250"/>
                <a:gridCol w="2857500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Mesmo endereço: /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Tela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VR / AR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Chromium no container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Abriu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Não suportados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Celular físico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Pendente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Pendente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CA2FF-D4FB-4365-AD6D-9A0C8C2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Alternativa: deduzir suporte pelo navegador. Descarte: nome do aparelho não comprova capacidade.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9FC79-DAA6-4304-A2FD-221CE40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ts/src/bancada/{modes/verificacao.ts, devices/sonda.ts}; docs/evidencias/sonda-desktop.txt</a:t>
            </a:r>
          </a:p>
        </p:txBody>
      </p:sp>
    </p:spTree>
    <p:extLst>
      <p:ext uri="{BB962C8B-B14F-4D97-AF65-F5344CB8AC3E}">
        <p14:creationId xmlns:p14="http://schemas.microsoft.com/office/powerpoint/2010/main" val="1117993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8545C-8E50-4C0E-A999-7E638EBD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 cena como árvore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E94F-3CB5-4AF7-BA26-B5B46737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1FA6C-4E7A-4BCB-B4B1-B86561D9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Recorte da estrutura da bateria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D95CF-A8A1-4435-8AD0-B340D1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383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estrutura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66E6F-D9D1-4F18-AC21-9E24361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40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suporte-prato-1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9C9FF-4073-4F10-A752-1C14F58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62300"/>
            <a:ext cx="240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painel de custo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BC54B-1B9C-4CBE-97C4-4FA7207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garra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94519-1A6B-4FF4-800F-44BE55F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957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9"/>
          </a:solidFill>
          <a:ln xmlns:a="http://schemas.openxmlformats.org/drawingml/2006/main" w="9525">
            <a:solidFill>
              <a:srgbClr val="879DA4"/>
            </a:solidFill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encaixe</a:t>
            </a:r>
          </a:p>
        </p:txBody>
      </p:sp>
      <p:cxnSp>
        <p:nvCxnSpPr>
          <p:cNvPr id="26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981200" y="2552700"/>
            <a:ext cx="14668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448050" y="2552700"/>
            <a:ext cx="1743075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514475" y="3695700"/>
            <a:ext cx="466725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981200" y="3695700"/>
            <a:ext cx="2009775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18892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25F10-9634-4C60-8A84-13C0487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619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no.name = nome;</a:t>
            </a:r>
          </a:p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no.position.set(x, y, z);</a:t>
            </a:r>
          </a:p>
          <a:p xmlns:a="http://schemas.openxmlformats.org/drawingml/2006/main">
            <a:pPr>
              <a:def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  pai.add(no);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CA936-5680-4740-B3F5-98E8083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5243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O suporte muda de altura.</a:t>
            </a:r>
          </a:p>
          <a:p xmlns:a="http://schemas.openxmlformats.org/drawingml/2006/main">
            <a:pPr>
              <a:def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Garra, tubo móvel e encaixe</a:t>
            </a:r>
          </a:p>
          <a:p xmlns:a="http://schemas.openxmlformats.org/drawingml/2006/main">
            <a:pPr>
              <a:def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acompanham o pai.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8B82E-93CE-497D-8D14-6682F13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244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A árvore completa aparece</a:t>
            </a:r>
          </a:p>
          <a:p xmlns:a="http://schemas.openxmlformats.org/drawingml/2006/main">
            <a:pPr>
              <a:defRPr sz="180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na própria demonstração.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278B9-DBE7-4438-8845-0BFBC11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Alternativa: coordenadas absolutas. Descarte: cada ajuste exigiria recalcular todos os filhos.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6F792-61C8-4BE0-9669-C2A59054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ts/src/bateria/cena.ts; ts/src/main.ts; docs/evidencias/browser.json</a:t>
            </a:r>
          </a:p>
        </p:txBody>
      </p:sp>
    </p:spTree>
    <p:extLst>
      <p:ext uri="{BB962C8B-B14F-4D97-AF65-F5344CB8AC3E}">
        <p14:creationId xmlns:p14="http://schemas.microsoft.com/office/powerpoint/2010/main" val="178964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BE45-2693-48D3-A52B-B6940C42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Trocar de pai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7B963-8452-4F81-AF01-A73DA29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4272C-ADE3-408F-9A40-D625F37E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34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const antes = objeto.getWorldPosition(new Vector3());</a:t>
            </a:r>
          </a:p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novoPai.attach(objeto);</a:t>
            </a:r>
          </a:p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const depois = objeto.getWorldPosition(new Vector3());</a:t>
            </a:r>
          </a:p>
          <a:p xmlns:a="http://schemas.openxmlformats.org/drawingml/2006/main">
            <a:pPr>
              <a:def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16242E"/>
                </a:solidFill>
                <a:latin typeface="DejaVu Sans Mono"/>
                <a:ea typeface="DejaVu Sans Mono"/>
                <a:cs typeface="DejaVu Sans Mono"/>
              </a:rPr>
              <a:t>  const erro = antes.distanceTo(depois);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8D357-347A-4E0A-99B6-0783A2E4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M_local_nova = inversa(M_novo_pai) × M_mundo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648075"/>
          <a:ext xmlns:a="http://schemas.openxmlformats.org/drawingml/2006/main" cx="706755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2514600"/>
                <a:gridCol w="2514600"/>
              </a:tblGrid>
              <a:tr h="438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Prato 1 (m)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Antes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Depois</a:t>
                      </a:r>
                    </a:p>
                  </a:txBody>
                  <a:tcPr marL="114300" marR="95250" marT="95250" marB="76200">
                    <a:solidFill>
                      <a:srgbClr val="16242E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X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-1.750000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-1.750000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Y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0.761000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0.761000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Z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0.300000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624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0.300000</a:t>
                      </a:r>
                    </a:p>
                  </a:txBody>
                  <a:tcPr marL="114300" marR="95250" marT="95250" marB="76200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5BE8A-4668-4EEB-B99E-63E018B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Erro medido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10257-4423-477D-9832-04650B4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2.289e-16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92FBF-FE91-4B35-8269-BDDAB51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Escala uniforme.</a:t>
            </a:r>
          </a:p>
          <a:p xmlns:a="http://schemas.openxmlformats.org/drawingml/2006/main">
            <a:pPr>
              <a:defRPr sz="1875" b="0">
                <a:solidFill>
                  <a:srgbClr val="16242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6242E"/>
                </a:solidFill>
                <a:latin typeface="Nimbus Sans"/>
                <a:ea typeface="Nimbus Sans"/>
                <a:cs typeface="Nimbus Sans"/>
              </a:rPr>
              <a:t>Ciclos recusados.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737AC-E339-427C-90A8-52E9815D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65337"/>
                </a:solidFill>
                <a:latin typeface="Nimbus Sans"/>
                <a:ea typeface="Nimbus Sans"/>
                <a:cs typeface="Nimbus Sans"/>
              </a:rPr>
              <a:t>Alternativa: copiar pose a cada quadro. Descarte: dependeria da ordem de atualização entre objetos.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F3CB2-7C97-478D-9C0B-069BEF11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52626D"/>
                </a:solidFill>
                <a:latin typeface="Nimbus Sans"/>
                <a:ea typeface="Nimbus Sans"/>
                <a:cs typeface="Nimbus Sans"/>
              </a:rPr>
              <a:t>ts/src/bateria/hierarquia.ts; docs/evidencias/browser.json; ts/test/modulo03.mjs</a:t>
            </a:r>
          </a:p>
        </p:txBody>
      </p:sp>
    </p:spTree>
    <p:extLst>
      <p:ext uri="{BB962C8B-B14F-4D97-AF65-F5344CB8AC3E}">
        <p14:creationId xmlns:p14="http://schemas.microsoft.com/office/powerpoint/2010/main" val="561872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41251-04E3-4B98-BC96-A0118B33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Relógio, orçamento e o que falta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4D05-944B-478A-A18A-0404B9BB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FC1C9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AFC1C9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815CB-63A6-4F4E-B9D4-9FCC56DD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rPr>
              <a:t>  const { delta, intervaloMs } =</a:t>
            </a:r>
          </a:p>
          <a:p xmlns:a="http://schemas.openxmlformats.org/drawingml/2006/main">
            <a:pPr>
              <a:def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rPr>
              <a:t>    relogio.avancar(instanteMs);</a:t>
            </a:r>
          </a:p>
          <a:p xmlns:a="http://schemas.openxmlformats.org/drawingml/2006/main">
            <a:pPr>
              <a:def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DE9EC"/>
                </a:solidFill>
                <a:latin typeface="DejaVu Sans Mono"/>
                <a:ea typeface="DejaVu Sans Mono"/>
                <a:cs typeface="DejaVu Sans Mono"/>
              </a:rPr>
              <a:t>  if (movimento) tempoDoMovimento += delta;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83908-FD3D-45CA-B7F8-0CC17206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239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1C9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AFC1C9"/>
                </a:solidFill>
                <a:latin typeface="Nimbus Sans"/>
                <a:ea typeface="Nimbus Sans"/>
                <a:cs typeface="Nimbus Sans"/>
              </a:rPr>
              <a:t>CPU média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59551-4046-4ABF-85C6-D892F7E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04975"/>
            <a:ext cx="304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0,74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6025-135A-4162-A6BE-F2CEA29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61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DB38D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DDB38D"/>
                </a:solidFill>
                <a:latin typeface="Nimbus Sans"/>
                <a:ea typeface="Nimbus Sans"/>
                <a:cs typeface="Nimbus Sans"/>
              </a:rPr>
              <a:t>Intervalo 30,83 ms</a:t>
            </a:r>
          </a:p>
          <a:p xmlns:a="http://schemas.openxmlformats.org/drawingml/2006/main">
            <a:pPr>
              <a:defRPr sz="2175" b="0">
                <a:solidFill>
                  <a:srgbClr val="DDB38D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DDB38D"/>
                </a:solidFill>
                <a:latin typeface="Nimbus Sans"/>
                <a:ea typeface="Nimbus Sans"/>
                <a:cs typeface="Nimbus Sans"/>
              </a:rPr>
              <a:t>Teto 16,67 ms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d4b5c08dc488d"/>
          <a:stretch xmlns:a="http://schemas.openxmlformats.org/drawingml/2006/main"/>
        </p:blipFill>
        <p:spPr>
          <a:xfrm xmlns:a="http://schemas.openxmlformats.org/drawingml/2006/main">
            <a:off x="610160" y="2533650"/>
            <a:ext cx="2437279" cy="1714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62285-E18F-405D-80DF-F8EB588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3905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Painel na estrutura.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Até 120 amostras.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Linux, AMD EPYC 9V74.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Chromium 134, SwiftShader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(renderização por software).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B2CEC-2E20-4EF0-ACB9-20FF3941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1C9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FC1C9"/>
                </a:solidFill>
                <a:latin typeface="Nimbus Sans"/>
                <a:ea typeface="Nimbus Sans"/>
                <a:cs typeface="Nimbus Sans"/>
              </a:rPr>
              <a:t>Captura do painel em execução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5CDDF-592D-4923-83B7-4B899E49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1C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FC1C9"/>
                </a:solidFill>
                <a:latin typeface="Nimbus Sans"/>
                <a:ea typeface="Nimbus Sans"/>
                <a:cs typeface="Nimbus Sans"/>
              </a:rPr>
              <a:t>Medição registrada no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24F7-24F5-4A8A-ACAF-8851843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4F1E9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4F1E9"/>
                </a:solidFill>
                <a:latin typeface="Nimbus Sans"/>
                <a:ea typeface="Nimbus Sans"/>
                <a:cs typeface="Nimbus Sans"/>
              </a:rPr>
              <a:t>Pendências da entrega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90F2C-0A29-4B9F-AFC9-AF4E73B9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Publicar a etiqueta; medir e consultar a sonda em duas classes de aparelho.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Intervalo acima do teto no container; GPU não cronometrada.</a:t>
            </a:r>
          </a:p>
          <a:p xmlns:a="http://schemas.openxmlformats.org/drawingml/2006/main">
            <a:pPr>
              <a:def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DE9EC"/>
                </a:solidFill>
                <a:latin typeface="Nimbus Sans"/>
                <a:ea typeface="Nimbus Sans"/>
                <a:cs typeface="Nimbus Sans"/>
              </a:rPr>
              <a:t>Faltam execução por alguém de fora do grupo e ensaio cruzado.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204BF-6AB3-45C1-B6F6-B7616C4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B38D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DDB38D"/>
                </a:solidFill>
                <a:latin typeface="Nimbus Sans"/>
                <a:ea typeface="Nimbus Sans"/>
                <a:cs typeface="Nimbus Sans"/>
              </a:rPr>
              <a:t>Alternativa: contar quadros. Descarte: uma máquina mais rápida faria a animação avançar mais rápido.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39B1-7FFF-43D1-929E-31FDF975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1C9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AFC1C9"/>
                </a:solidFill>
                <a:latin typeface="Nimbus Sans"/>
                <a:ea typeface="Nimbus Sans"/>
                <a:cs typeface="Nimbus Sans"/>
              </a:rPr>
              <a:t>ts/src/main.ts; ts/src/bateria/tempo.ts; docs/evidencias/{browser.json, painel-captura.png}</a:t>
            </a:r>
          </a:p>
        </p:txBody>
      </p:sp>
    </p:spTree>
    <p:extLst>
      <p:ext uri="{BB962C8B-B14F-4D97-AF65-F5344CB8AC3E}">
        <p14:creationId xmlns:p14="http://schemas.microsoft.com/office/powerpoint/2010/main" val="358061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2026-09-24T00:06:26.1820000Z</dcterms:created>
  <dcterms:modified xsi:type="dcterms:W3CDTF">2026-09-24T00:06:26.1820000Z</dcterms:modified>
</coreProperties>
</file>