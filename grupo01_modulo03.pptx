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189368b736c450b" /><Relationship Type="http://schemas.openxmlformats.org/officeDocument/2006/relationships/extended-properties" Target="/docProps/app.xml" Id="Rd58aebae5c0a4528" /><Relationship Type="http://schemas.openxmlformats.org/officeDocument/2006/relationships/officeDocument" Target="/ppt/presentation.xml" Id="R3d3a3715e7464f0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2ca4ea0b13a4c50"/>
  </p:sldMasterIdLst>
  <p:notesMasterIdLst>
    <p:notesMasterId xmlns:r="http://schemas.openxmlformats.org/officeDocument/2006/relationships" r:id="R0ebfd938beae4734"/>
  </p:notesMasterIdLst>
  <p:sldIdLst>
    <p:sldId xmlns:r="http://schemas.openxmlformats.org/officeDocument/2006/relationships" id="256" r:id="R218f7b116a3944eb"/>
    <p:sldId xmlns:r="http://schemas.openxmlformats.org/officeDocument/2006/relationships" id="257" r:id="R214313c3beae4bdd"/>
    <p:sldId xmlns:r="http://schemas.openxmlformats.org/officeDocument/2006/relationships" id="258" r:id="Rdf1b2133cd0d46fa"/>
    <p:sldId xmlns:r="http://schemas.openxmlformats.org/officeDocument/2006/relationships" id="259" r:id="R1b5ad28b55e74536"/>
    <p:sldId xmlns:r="http://schemas.openxmlformats.org/officeDocument/2006/relationships" id="260" r:id="R646fde97ede54953"/>
    <p:sldId xmlns:r="http://schemas.openxmlformats.org/officeDocument/2006/relationships" id="261" r:id="R658029b6870c4536"/>
    <p:sldId xmlns:r="http://schemas.openxmlformats.org/officeDocument/2006/relationships" id="262" r:id="Re3a7d9fd2d7c4ee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ff421747b6f44fd" /><Relationship Type="http://schemas.openxmlformats.org/officeDocument/2006/relationships/slideMaster" Target="/ppt/slideMasters/slideMaster1.xml" Id="Rb2ca4ea0b13a4c50" /><Relationship Type="http://schemas.openxmlformats.org/officeDocument/2006/relationships/notesMaster" Target="/ppt/notesMasters/notesMaster1.xml" Id="R0ebfd938beae4734" /><Relationship Type="http://schemas.openxmlformats.org/officeDocument/2006/relationships/presProps" Target="/ppt/presProps.xml" Id="R58f546ac24fa4daf" /><Relationship Type="http://schemas.openxmlformats.org/officeDocument/2006/relationships/tableStyles" Target="/ppt/tableStyles.xml" Id="Rc2fedbde6fce49bd" /><Relationship Type="http://schemas.openxmlformats.org/officeDocument/2006/relationships/slide" Target="/ppt/slides/slide1.xml" Id="R218f7b116a3944eb" /><Relationship Type="http://schemas.openxmlformats.org/officeDocument/2006/relationships/slide" Target="/ppt/slides/slide2.xml" Id="R214313c3beae4bdd" /><Relationship Type="http://schemas.openxmlformats.org/officeDocument/2006/relationships/slide" Target="/ppt/slides/slide3.xml" Id="Rdf1b2133cd0d46fa" /><Relationship Type="http://schemas.openxmlformats.org/officeDocument/2006/relationships/slide" Target="/ppt/slides/slide4.xml" Id="R1b5ad28b55e74536" /><Relationship Type="http://schemas.openxmlformats.org/officeDocument/2006/relationships/slide" Target="/ppt/slides/slide5.xml" Id="R646fde97ede54953" /><Relationship Type="http://schemas.openxmlformats.org/officeDocument/2006/relationships/slide" Target="/ppt/slides/slide6.xml" Id="R658029b6870c4536" /><Relationship Type="http://schemas.openxmlformats.org/officeDocument/2006/relationships/slide" Target="/ppt/slides/slide7.xml" Id="Re3a7d9fd2d7c4ee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cbcdc6ea8ed44c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11bd452bf4d4c1b" /><Relationship Type="http://schemas.openxmlformats.org/officeDocument/2006/relationships/notesMaster" Target="/ppt/notesMasters/notesMaster1.xml" Id="Rac8fefeefd244fc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f307221fcaa4040" /><Relationship Type="http://schemas.openxmlformats.org/officeDocument/2006/relationships/notesMaster" Target="/ppt/notesMasters/notesMaster1.xml" Id="Ra64eb0ff7944448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a29493312ef4bc0" /><Relationship Type="http://schemas.openxmlformats.org/officeDocument/2006/relationships/notesMaster" Target="/ppt/notesMasters/notesMaster1.xml" Id="Rc56fd2787bf94c0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b00fe476ea945d0" /><Relationship Type="http://schemas.openxmlformats.org/officeDocument/2006/relationships/notesMaster" Target="/ppt/notesMasters/notesMaster1.xml" Id="R57d188d6a5944f7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9c866a92fd14c4a" /><Relationship Type="http://schemas.openxmlformats.org/officeDocument/2006/relationships/notesMaster" Target="/ppt/notesMasters/notesMaster1.xml" Id="Re4c2a477e3d4426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1baa87b26514a33" /><Relationship Type="http://schemas.openxmlformats.org/officeDocument/2006/relationships/notesMaster" Target="/ppt/notesMasters/notesMaster1.xml" Id="Rdea45e87bf77453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bd6e2fe4fbe496a" /><Relationship Type="http://schemas.openxmlformats.org/officeDocument/2006/relationships/notesMaster" Target="/ppt/notesMasters/notesMaster1.xml" Id="R4389d46dfe67430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Grupo 1. Cena: bateria acústica. Integrantes conforme docs/especificacao.md, seção 1. Fonte da imagem: docs/evidencias/cena-slide.png, captura real da aplicação. A etiqueta da entrega é modulo-03, criada depois do último commit.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Tarefa completa planejada. Neste marco existem os objetos em geometria crua, a hierarquia e a operação de troca de pai; montagem e alcance ainda não estão implementados. Alternativa considerada: medidas próximas de um kit real. O custo aceito é a validação perceptiva e corporal. Cilindros e discos diferem por diâmetro e profundidade. As folgas ainda são hipóteses, não resultados de teste físico. Todos os números estão na especificação e nas constantes do domínio.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janela roda em WebGL, sem abrir sessão XR inline. Em VR a referência pretendida é local-floor. Em AR, viewer serve ao raio de hit-test, enquanto local serve à pose dos objetos. A mesa é o registro físico, não um nome de XRReferenceSpace. A declaração é planejamento, não comprovação de suporte nem implementação dos regimes imersivos. Fonte técnica: https://www.w3.org/TR/webxr/.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consulta é real. isSessionSupported pergunta pelos modos; requestSession consulta recursos, espaços, entradas e poses. A falta de um item em enabledFeatures não distingue, sozinha, hardware ausente e autorização negada. Não inventamos essa causa. navigator.xr ausente e erros de permissão da sessão têm mensagens próprias. No notebook (Dell Inspiron 15, Chrome 153), só a janela foi suportada. No POCO X5 Pro 5G (Android 14, Chrome 153), janela, VR e AR foram declarados; a sessão immersive-ar concedeu local-floor, unbounded, hit-test, anchors e plane-detection, com seis graus de liberdade. Não concedidos: bounded-floor, hand-tracking e dom-overlay (a sonda não informa o root que o dom-overlay exige). A sonda rotula o celular como visor porque só reconhece aparelho de mão com AR sem VR; a correção foi adiada e consta no slide 7. Uma primeira sondagem do notebook foi descartada: o Immersive Web Emulator declarou VR, AR e controles de Quest 3. Fonte: docs/aparelhos.md, docs/evidencias/sonda-pc.png, docs/evidencias/sonda-celular-*.jpg e https://www.w3.org/TR/webxr/.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Diagrama parcial do grafo real, com os nós intermediários sala e bateria omitidos para caber. O tubo móvel também pertence ao suporte; os demais apoios e a mesa constam da árvore completa na aplicação. O painel é malha da cena e filho da estrutura, não HTML sobreposto. O parentesco vem da regulagem física do apoio. No exemplo do professor a engrenagem acompanha o eixo; na bateria não há esse eixo giratório, então a demonstração usa regulagem de altura do suporte. Este é um caso concreto em que a decisão de domínio do professor não foi copiada.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Valores medidos no teste de navegador, campo troca.ultimaTroca. O erro bruto permanece no JSON, embora as coordenadas no slide usem seis casas decimais. attach preserva posição, rotação e escala de mundo para as condições permitidas. O teste numérico também confere a matriz inteira com pais rotacionados e escala uniforme. A rotina rejeita ciclos e escalas não uniformes, nulas ou negativas antes de modificar a árvore. A operação ocorre uma vez. Nos quadros seguintes, o filho acompanha o novo pai por composição.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Notebook Dell Inspiron 15 3530 (i5-1334U, Iris Xe, Windows 11, Chrome 153, tela de 60 Hz): CPU 1.097499993443489 ms, intervalo 16.667499999999805 ms. Celular POCO X5 Pro 5G (Android 14, Chrome 153): CPU 0.5574999908606212 ms, intervalo 16.358333333333334 ms. Teto: 16.666666666666668 ms. Médias de 120 quadros; dados integrais em docs/evidencias/medicao-pc.json e medicao-celular.json. A captura do painel é outro instante da mesma execução no notebook. A CPU mede trabalho do callback até o retorno de render, não o tempo completo da GPU. No notebook o intervalo coincide com o teto porque o navegador desenha no ritmo da tela de 60 Hz: não é folga medida. No celular a média ficou abaixo do teto, com quadros isolados acima. O teste numérico de 30, 60 e 144 FPS verifica a fórmula de tempo. Pendem a etiqueta modulo-03, a correção da classe do celular na sonda, a execução por alguém de fora e o ensaio de cada integrante em um slide alheio. Montagem completa, alcance sentado e VR/AR da bateria pertencem aos módulos seguintes.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f99f173584444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e964e6a54f748fc" /><Relationship Type="http://schemas.openxmlformats.org/officeDocument/2006/relationships/slideLayout" Target="/ppt/slideLayouts/slideLayout1.xml" Id="Rde8d2f47f50248e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e8d2f47f50248e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4c7496828d468c" /><Relationship Type="http://schemas.openxmlformats.org/officeDocument/2006/relationships/image" Target="/ppt/media/image.png" Id="R2e98063d47344026" /><Relationship Type="http://schemas.openxmlformats.org/officeDocument/2006/relationships/hyperlink" Target="https://github.com/JvbsB7/RaV_WebXR" TargetMode="External" Id="R4001be064d6246d9" /><Relationship Type="http://schemas.openxmlformats.org/officeDocument/2006/relationships/notesSlide" Target="/ppt/notesSlides/notesSlide1.xml" Id="Re216f599cfa54f3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4de4dbe70b4925" /><Relationship Type="http://schemas.openxmlformats.org/officeDocument/2006/relationships/notesSlide" Target="/ppt/notesSlides/notesSlide2.xml" Id="Rfb902e703ab8468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42c45ba8ee4768" /><Relationship Type="http://schemas.openxmlformats.org/officeDocument/2006/relationships/notesSlide" Target="/ppt/notesSlides/notesSlide3.xml" Id="Rd89588d49feb488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40f54e45a04f44" /><Relationship Type="http://schemas.openxmlformats.org/officeDocument/2006/relationships/notesSlide" Target="/ppt/notesSlides/notesSlide4.xml" Id="R4a94084ff9c8429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ed55d5898a46c5" /><Relationship Type="http://schemas.openxmlformats.org/officeDocument/2006/relationships/notesSlide" Target="/ppt/notesSlides/notesSlide5.xml" Id="Rcdcc63a9541b4fa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9c0a52f19c46a7" /><Relationship Type="http://schemas.openxmlformats.org/officeDocument/2006/relationships/notesSlide" Target="/ppt/notesSlides/notesSlide6.xml" Id="Rd966cfd1499049d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573a2f4bd74ae0" /><Relationship Type="http://schemas.openxmlformats.org/officeDocument/2006/relationships/image" Target="/ppt/media/image2.png" Id="Re26d4b5c08dc488d" /><Relationship Type="http://schemas.openxmlformats.org/officeDocument/2006/relationships/notesSlide" Target="/ppt/notesSlides/notesSlide7.xml" Id="R16f19a39362344b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18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525A9A-BAE0-439B-BDB1-A1086CC5B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D5AD88"/>
                </a:solidFill>
                <a:latin typeface="Nimbus Sans"/>
                <a:ea typeface="Nimbus Sans"/>
                <a:cs typeface="Nimbus Sans"/>
              </a:defRPr>
            </a:pPr>
            <a:r>
              <a:rPr sz="1800" b="0">
                <a:solidFill>
                  <a:srgbClr val="D5AD88"/>
                </a:solidFill>
                <a:latin typeface="Nimbus Sans"/>
                <a:ea typeface="Nimbus Sans"/>
                <a:cs typeface="Nimbus Sans"/>
              </a:rPr>
              <a:t>GRUPO 01 / MÓDULO 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874B83-C7FE-4E94-8D9C-89D66168D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62075"/>
            <a:ext cx="5429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6000" b="1">
                <a:solidFill>
                  <a:srgbClr val="F4F1E9"/>
                </a:solidFill>
                <a:latin typeface="Nimbus Sans"/>
                <a:ea typeface="Nimbus Sans"/>
                <a:cs typeface="Nimbus Sans"/>
              </a:defRPr>
            </a:pPr>
            <a:r>
              <a:rPr sz="6000" b="1">
                <a:solidFill>
                  <a:srgbClr val="F4F1E9"/>
                </a:solidFill>
                <a:latin typeface="Nimbus Sans"/>
                <a:ea typeface="Nimbus Sans"/>
                <a:cs typeface="Nimbus Sans"/>
              </a:rPr>
              <a:t>Bateria</a:t>
            </a:r>
          </a:p>
          <a:p xmlns:a="http://schemas.openxmlformats.org/drawingml/2006/main">
            <a:pPr>
              <a:defRPr sz="6000" b="1">
                <a:solidFill>
                  <a:srgbClr val="F4F1E9"/>
                </a:solidFill>
                <a:latin typeface="Nimbus Sans"/>
                <a:ea typeface="Nimbus Sans"/>
                <a:cs typeface="Nimbus Sans"/>
              </a:defRPr>
            </a:pPr>
            <a:r>
              <a:rPr sz="6000" b="1">
                <a:solidFill>
                  <a:srgbClr val="F4F1E9"/>
                </a:solidFill>
                <a:latin typeface="Nimbus Sans"/>
                <a:ea typeface="Nimbus Sans"/>
                <a:cs typeface="Nimbus Sans"/>
              </a:rPr>
              <a:t>acústica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839677-FFA2-4D4D-9835-C7F97176E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14725"/>
            <a:ext cx="4857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CCD7DD"/>
                </a:solidFill>
                <a:latin typeface="Nimbus Sans"/>
                <a:ea typeface="Nimbus Sans"/>
                <a:cs typeface="Nimbus Sans"/>
              </a:defRPr>
            </a:pPr>
            <a:r>
              <a:rPr sz="2100" b="0">
                <a:solidFill>
                  <a:srgbClr val="CCD7DD"/>
                </a:solidFill>
                <a:latin typeface="Nimbus Sans"/>
                <a:ea typeface="Nimbus Sans"/>
                <a:cs typeface="Nimbus Sans"/>
              </a:rPr>
              <a:t>Montagem de seis peças e</a:t>
            </a:r>
          </a:p>
          <a:p xmlns:a="http://schemas.openxmlformats.org/drawingml/2006/main">
            <a:pPr>
              <a:defRPr sz="2100" b="0">
                <a:solidFill>
                  <a:srgbClr val="CCD7DD"/>
                </a:solidFill>
                <a:latin typeface="Nimbus Sans"/>
                <a:ea typeface="Nimbus Sans"/>
                <a:cs typeface="Nimbus Sans"/>
              </a:defRPr>
            </a:pPr>
            <a:r>
              <a:rPr sz="2100" b="0">
                <a:solidFill>
                  <a:srgbClr val="CCD7DD"/>
                </a:solidFill>
                <a:latin typeface="Nimbus Sans"/>
                <a:ea typeface="Nimbus Sans"/>
                <a:cs typeface="Nimbus Sans"/>
              </a:rPr>
              <a:t>verificação de alcance sentado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98063d47344026"/>
          <a:stretch xmlns:a="http://schemas.openxmlformats.org/drawingml/2006/main"/>
        </p:blipFill>
        <p:spPr>
          <a:xfrm xmlns:a="http://schemas.openxmlformats.org/drawingml/2006/main">
            <a:off x="5734050" y="1097935"/>
            <a:ext cx="5905500" cy="403348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9366E6-4E4E-4582-90AC-7CAC863D8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57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F4F1E9"/>
                </a:solidFill>
                <a:latin typeface="Nimbus Sans"/>
                <a:ea typeface="Nimbus Sans"/>
                <a:cs typeface="Nimbus Sans"/>
              </a:defRPr>
            </a:pPr>
            <a:r>
              <a:rPr sz="1875" b="0">
                <a:solidFill>
                  <a:srgbClr val="F4F1E9"/>
                </a:solidFill>
                <a:latin typeface="Nimbus Sans"/>
                <a:ea typeface="Nimbus Sans"/>
                <a:cs typeface="Nimbus Sans"/>
              </a:rPr>
              <a:t>Ian Jabriel, João Vitor, Gabriel Lenzi</a:t>
            </a:r>
          </a:p>
          <a:p xmlns:a="http://schemas.openxmlformats.org/drawingml/2006/main">
            <a:pPr>
              <a:defRPr sz="1875" b="0">
                <a:solidFill>
                  <a:srgbClr val="F4F1E9"/>
                </a:solidFill>
                <a:latin typeface="Nimbus Sans"/>
                <a:ea typeface="Nimbus Sans"/>
                <a:cs typeface="Nimbus Sans"/>
              </a:defRPr>
            </a:pPr>
            <a:r>
              <a:rPr sz="1875" b="0">
                <a:solidFill>
                  <a:srgbClr val="F4F1E9"/>
                </a:solidFill>
                <a:latin typeface="Nimbus Sans"/>
                <a:ea typeface="Nimbus Sans"/>
                <a:cs typeface="Nimbus Sans"/>
              </a:rPr>
              <a:t>Vinicius Gatti, Gabriel Verri, David Martins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6B5666-1292-49C0-8E87-D9A21E6C7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525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AED1DF"/>
                </a:solidFill>
                <a:latin typeface="Nimbus Sans"/>
                <a:ea typeface="Nimbus Sans"/>
                <a:cs typeface="Nimbus Sans"/>
              </a:defRPr>
            </a:pPr>
            <a:r>
              <a:rPr sz="1875" b="0">
                <a:solidFill>
                  <a:srgbClr val="AED1DF"/>
                </a:solidFill>
                <a:latin typeface="Nimbus Sans"/>
                <a:ea typeface="Nimbus Sans"/>
                <a:cs typeface="Nimbus Sans"/>
                <a:hlinkClick xmlns:r="http://schemas.openxmlformats.org/officeDocument/2006/relationships" r:id="R4001be064d6246d9"/>
              </a:rPr>
              <a:t>https://github.com/JvbsB7/RaV_WebXR</a:t>
            </a:r>
          </a:p>
        </p:txBody>
      </p:sp>
    </p:spTree>
    <p:extLst>
      <p:ext uri="{BB962C8B-B14F-4D97-AF65-F5344CB8AC3E}">
        <p14:creationId xmlns:p14="http://schemas.microsoft.com/office/powerpoint/2010/main" val="57845483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1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3450E0-B338-401A-9950-B1369B230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6242E"/>
                </a:solidFill>
                <a:latin typeface="Nimbus Sans"/>
                <a:ea typeface="Nimbus Sans"/>
                <a:cs typeface="Nimbus Sans"/>
              </a:defRPr>
            </a:pPr>
            <a:r>
              <a:rPr sz="3450" b="1">
                <a:solidFill>
                  <a:srgbClr val="16242E"/>
                </a:solidFill>
                <a:latin typeface="Nimbus Sans"/>
                <a:ea typeface="Nimbus Sans"/>
                <a:cs typeface="Nimbus Sans"/>
              </a:rPr>
              <a:t>A cena e a tarefa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3CA721-2AD7-4F56-A07E-2A8FDEA4E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47675"/>
            <a:ext cx="38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2626D"/>
                </a:solidFill>
                <a:latin typeface="Nimbus Sans"/>
                <a:ea typeface="Nimbus Sans"/>
                <a:cs typeface="Nimbus Sans"/>
              </a:defRPr>
            </a:pPr>
            <a:r>
              <a:rPr sz="1650" b="0">
                <a:solidFill>
                  <a:srgbClr val="52626D"/>
                </a:solidFill>
                <a:latin typeface="Nimbus Sans"/>
                <a:ea typeface="Nimbus Sans"/>
                <a:cs typeface="Nimbus Sans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EB8B34-43FA-42F6-8D34-1D20590D0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4667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6242E"/>
                </a:solidFill>
                <a:latin typeface="Nimbus Sans"/>
                <a:ea typeface="Nimbus Sans"/>
                <a:cs typeface="Nimbus Sans"/>
              </a:defRPr>
            </a:pPr>
            <a:r>
              <a:rPr sz="2400" b="1">
                <a:solidFill>
                  <a:srgbClr val="16242E"/>
                </a:solidFill>
                <a:latin typeface="Nimbus Sans"/>
                <a:ea typeface="Nimbus Sans"/>
                <a:cs typeface="Nimbus Sans"/>
              </a:rPr>
              <a:t>Montar as seis peças e</a:t>
            </a:r>
          </a:p>
          <a:p xmlns:a="http://schemas.openxmlformats.org/drawingml/2006/main">
            <a:pPr>
              <a:defRPr sz="2400" b="1">
                <a:solidFill>
                  <a:srgbClr val="16242E"/>
                </a:solidFill>
                <a:latin typeface="Nimbus Sans"/>
                <a:ea typeface="Nimbus Sans"/>
                <a:cs typeface="Nimbus Sans"/>
              </a:defRPr>
            </a:pPr>
            <a:r>
              <a:rPr sz="2400" b="1">
                <a:solidFill>
                  <a:srgbClr val="16242E"/>
                </a:solidFill>
                <a:latin typeface="Nimbus Sans"/>
                <a:ea typeface="Nimbus Sans"/>
                <a:cs typeface="Nimbus Sans"/>
              </a:rPr>
              <a:t>verificar o alcance sentado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ACC64C-4F52-461B-A4D3-101A78428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47925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A65337"/>
                </a:solidFill>
                <a:latin typeface="Nimbus Sans"/>
                <a:ea typeface="Nimbus Sans"/>
                <a:cs typeface="Nimbus Sans"/>
              </a:defRPr>
            </a:pPr>
            <a:r>
              <a:rPr sz="1800" b="1">
                <a:solidFill>
                  <a:srgbClr val="A65337"/>
                </a:solidFill>
                <a:latin typeface="Nimbus Sans"/>
                <a:ea typeface="Nimbus Sans"/>
                <a:cs typeface="Nimbus Sans"/>
              </a:rPr>
              <a:t>Sucesso planejado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DC2616-3A92-4256-B20C-7EF0E0C77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4572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42E"/>
                </a:solidFill>
                <a:latin typeface="Nimbus Sans"/>
                <a:ea typeface="Nimbus Sans"/>
                <a:cs typeface="Nimbus Sans"/>
              </a:defRPr>
            </a:pPr>
            <a:r>
              <a:rPr sz="2100" b="0">
                <a:solidFill>
                  <a:srgbClr val="16242E"/>
                </a:solidFill>
                <a:latin typeface="Nimbus Sans"/>
                <a:ea typeface="Nimbus Sans"/>
                <a:cs typeface="Nimbus Sans"/>
              </a:rPr>
              <a:t>Peças nos apoios corretos,</a:t>
            </a:r>
          </a:p>
          <a:p xmlns:a="http://schemas.openxmlformats.org/drawingml/2006/main">
            <a:pPr>
              <a:defRPr sz="2100" b="0">
                <a:solidFill>
                  <a:srgbClr val="16242E"/>
                </a:solidFill>
                <a:latin typeface="Nimbus Sans"/>
                <a:ea typeface="Nimbus Sans"/>
                <a:cs typeface="Nimbus Sans"/>
              </a:defRPr>
            </a:pPr>
            <a:r>
              <a:rPr sz="2100" b="0">
                <a:solidFill>
                  <a:srgbClr val="16242E"/>
                </a:solidFill>
                <a:latin typeface="Nimbus Sans"/>
                <a:ea typeface="Nimbus Sans"/>
                <a:cs typeface="Nimbus Sans"/>
              </a:rPr>
              <a:t>nas alturas previstas e</a:t>
            </a:r>
          </a:p>
          <a:p xmlns:a="http://schemas.openxmlformats.org/drawingml/2006/main">
            <a:pPr>
              <a:defRPr sz="2100" b="0">
                <a:solidFill>
                  <a:srgbClr val="16242E"/>
                </a:solidFill>
                <a:latin typeface="Nimbus Sans"/>
                <a:ea typeface="Nimbus Sans"/>
                <a:cs typeface="Nimbus Sans"/>
              </a:defRPr>
            </a:pPr>
            <a:r>
              <a:rPr sz="2100" b="0">
                <a:solidFill>
                  <a:srgbClr val="16242E"/>
                </a:solidFill>
                <a:latin typeface="Nimbus Sans"/>
                <a:ea typeface="Nimbus Sans"/>
                <a:cs typeface="Nimbus Sans"/>
              </a:rPr>
              <a:t>alcançáveis com os bastões.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C5478D-62CD-4D5E-9D29-6857CCC39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21907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7E9"/>
          </a:solidFill>
          <a:ln xmlns:a="http://schemas.openxmlformats.org/drawingml/2006/main" w="9525">
            <a:solidFill>
              <a:srgbClr val="879DA4"/>
            </a:solidFill>
          </a:ln>
        </p:spPr>
        <p:txBody>
          <a:bodyPr xmlns:a="http://schemas.openxmlformats.org/drawingml/2006/main" lIns="76200" tIns="28575" rIns="76200" bIns="28575" anchor="ctr"/>
          <a:lstStyle xmlns:a="http://schemas.openxmlformats.org/drawingml/2006/main"/>
          <a:p xmlns:a="http://schemas.openxmlformats.org/drawingml/2006/main">
            <a:pPr algn="ctr">
              <a:defRPr sz="1800">
                <a:solidFill>
                  <a:srgbClr val="16242E"/>
                </a:solidFill>
                <a:latin typeface="Nimbus Sans"/>
                <a:ea typeface="Nimbus Sans"/>
                <a:cs typeface="Nimbus Sans"/>
              </a:defRPr>
            </a:pPr>
            <a:r>
              <a:rPr sz="1800">
                <a:solidFill>
                  <a:srgbClr val="16242E"/>
                </a:solidFill>
                <a:latin typeface="Nimbus Sans"/>
                <a:ea typeface="Nimbus Sans"/>
                <a:cs typeface="Nimbus Sans"/>
              </a:rPr>
              <a:t>Peças na mesa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2CF8E1-3F2A-4D1C-B2E7-FF2916D49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91100"/>
            <a:ext cx="21907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7E9"/>
          </a:solidFill>
          <a:ln xmlns:a="http://schemas.openxmlformats.org/drawingml/2006/main" w="9525">
            <a:solidFill>
              <a:srgbClr val="879DA4"/>
            </a:solidFill>
          </a:ln>
        </p:spPr>
        <p:txBody>
          <a:bodyPr xmlns:a="http://schemas.openxmlformats.org/drawingml/2006/main" lIns="76200" tIns="28575" rIns="76200" bIns="28575" anchor="ctr"/>
          <a:lstStyle xmlns:a="http://schemas.openxmlformats.org/drawingml/2006/main"/>
          <a:p xmlns:a="http://schemas.openxmlformats.org/drawingml/2006/main">
            <a:pPr algn="ctr">
              <a:defRPr sz="1800">
                <a:solidFill>
                  <a:srgbClr val="16242E"/>
                </a:solidFill>
                <a:latin typeface="Nimbus Sans"/>
                <a:ea typeface="Nimbus Sans"/>
                <a:cs typeface="Nimbus Sans"/>
              </a:defRPr>
            </a:pPr>
            <a:r>
              <a:rPr sz="1800">
                <a:solidFill>
                  <a:srgbClr val="16242E"/>
                </a:solidFill>
                <a:latin typeface="Nimbus Sans"/>
                <a:ea typeface="Nimbus Sans"/>
                <a:cs typeface="Nimbus Sans"/>
              </a:rPr>
              <a:t>Montagem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A3FA4A-4FE6-490A-978F-636CAA9D4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4991100"/>
            <a:ext cx="2095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7E9"/>
          </a:solidFill>
          <a:ln xmlns:a="http://schemas.openxmlformats.org/drawingml/2006/main" w="9525">
            <a:solidFill>
              <a:srgbClr val="879DA4"/>
            </a:solidFill>
          </a:ln>
        </p:spPr>
        <p:txBody>
          <a:bodyPr xmlns:a="http://schemas.openxmlformats.org/drawingml/2006/main" lIns="76200" tIns="28575" rIns="76200" bIns="28575" anchor="ctr"/>
          <a:lstStyle xmlns:a="http://schemas.openxmlformats.org/drawingml/2006/main"/>
          <a:p xmlns:a="http://schemas.openxmlformats.org/drawingml/2006/main">
            <a:pPr algn="ctr">
              <a:defRPr sz="1800">
                <a:solidFill>
                  <a:srgbClr val="16242E"/>
                </a:solidFill>
                <a:latin typeface="Nimbus Sans"/>
                <a:ea typeface="Nimbus Sans"/>
                <a:cs typeface="Nimbus Sans"/>
              </a:defRPr>
            </a:pPr>
            <a:r>
              <a:rPr sz="1800">
                <a:solidFill>
                  <a:srgbClr val="16242E"/>
                </a:solidFill>
                <a:latin typeface="Nimbus Sans"/>
                <a:ea typeface="Nimbus Sans"/>
                <a:cs typeface="Nimbus Sans"/>
              </a:rPr>
              <a:t>Alcance sentado</a:t>
            </a:r>
          </a:p>
        </p:txBody>
      </p:sp>
      <p:cxnSp>
        <p:nvCxnSpPr>
          <p:cNvPr id="23" name=""/>
          <p:cNvCxnSpPr>
            <a:stCxn xmlns:a="http://schemas.openxmlformats.org/drawingml/2006/main" id="6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>
            <a:off x="1704975" y="4762500"/>
            <a:ext cx="0" cy="2286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18892"/>
            </a:solidFill>
            <a:tailEnd type="triangle" w="sm" len="sm"/>
          </a:ln>
        </p:spPr>
      </p:cxnSp>
      <p:cxnSp>
        <p:nvCxnSpPr>
          <p:cNvPr id="24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800350" y="5205413"/>
            <a:ext cx="2762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18892"/>
            </a:solidFill>
            <a:tailEnd type="triangle" w="sm" len="sm"/>
          </a:ln>
        </p:spPr>
      </p:cxnSp>
      <p:graphicFrame>
        <p:nvGraphicFramePr>
          <p:cNvPr id="25" name=""/>
          <p:cNvGraphicFramePr/>
          <p:nvPr/>
        </p:nvGraphicFramePr>
        <p:xfrm>
          <a:off xmlns:a="http://schemas.openxmlformats.org/drawingml/2006/main" x="5715000" y="1381125"/>
          <a:ext xmlns:a="http://schemas.openxmlformats.org/drawingml/2006/main" cx="5867400" cy="3143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95500"/>
                <a:gridCol w="3771900"/>
              </a:tblGrid>
              <a:tr h="449036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Peça</a:t>
                      </a:r>
                    </a:p>
                  </a:txBody>
                  <a:tcPr marL="114300" marR="95250" marT="95250" marB="76200">
                    <a:solidFill>
                      <a:srgbClr val="1624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Ø / profundidade (m)</a:t>
                      </a:r>
                    </a:p>
                  </a:txBody>
                  <a:tcPr marL="114300" marR="95250" marT="95250" marB="76200">
                    <a:solidFill>
                      <a:srgbClr val="16242E"/>
                    </a:solidFill>
                  </a:tcPr>
                </a:tc>
              </a:tr>
              <a:tr h="449036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6242E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Caixa 1</a:t>
                      </a:r>
                    </a:p>
                  </a:txBody>
                  <a:tcPr marL="114300" marR="95250" marT="95250" marB="76200">
                    <a:solidFill>
                      <a:srgbClr val="F4F1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6242E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0,30 / 0,18</a:t>
                      </a:r>
                    </a:p>
                  </a:txBody>
                  <a:tcPr marL="114300" marR="95250" marT="95250" marB="76200">
                    <a:solidFill>
                      <a:srgbClr val="F4F1E9"/>
                    </a:solidFill>
                  </a:tcPr>
                </a:tc>
              </a:tr>
              <a:tr h="449036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6242E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Caixa 2</a:t>
                      </a:r>
                    </a:p>
                  </a:txBody>
                  <a:tcPr marL="114300" marR="95250" marT="95250" marB="76200">
                    <a:solidFill>
                      <a:srgbClr val="F4F1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6242E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0,36 / 0,22</a:t>
                      </a:r>
                    </a:p>
                  </a:txBody>
                  <a:tcPr marL="114300" marR="95250" marT="95250" marB="76200">
                    <a:solidFill>
                      <a:srgbClr val="F4F1E9"/>
                    </a:solidFill>
                  </a:tcPr>
                </a:tc>
              </a:tr>
              <a:tr h="449036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6242E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Caixa 3</a:t>
                      </a:r>
                    </a:p>
                  </a:txBody>
                  <a:tcPr marL="114300" marR="95250" marT="95250" marB="76200">
                    <a:solidFill>
                      <a:srgbClr val="F4F1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6242E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0,42 / 0,28</a:t>
                      </a:r>
                    </a:p>
                  </a:txBody>
                  <a:tcPr marL="114300" marR="95250" marT="95250" marB="76200">
                    <a:solidFill>
                      <a:srgbClr val="F4F1E9"/>
                    </a:solidFill>
                  </a:tcPr>
                </a:tc>
              </a:tr>
              <a:tr h="449036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6242E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Caixa 4</a:t>
                      </a:r>
                    </a:p>
                  </a:txBody>
                  <a:tcPr marL="114300" marR="95250" marT="95250" marB="76200">
                    <a:solidFill>
                      <a:srgbClr val="F4F1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6242E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0,48 / 0,35</a:t>
                      </a:r>
                    </a:p>
                  </a:txBody>
                  <a:tcPr marL="114300" marR="95250" marT="95250" marB="76200">
                    <a:solidFill>
                      <a:srgbClr val="F4F1E9"/>
                    </a:solidFill>
                  </a:tcPr>
                </a:tc>
              </a:tr>
              <a:tr h="449036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6242E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Prato 1</a:t>
                      </a:r>
                    </a:p>
                  </a:txBody>
                  <a:tcPr marL="114300" marR="95250" marT="95250" marB="76200">
                    <a:solidFill>
                      <a:srgbClr val="F4F1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6242E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0,40 / 0,002</a:t>
                      </a:r>
                    </a:p>
                  </a:txBody>
                  <a:tcPr marL="114300" marR="95250" marT="95250" marB="76200">
                    <a:solidFill>
                      <a:srgbClr val="F4F1E9"/>
                    </a:solidFill>
                  </a:tcPr>
                </a:tc>
              </a:tr>
              <a:tr h="449036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6242E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Prato 2</a:t>
                      </a:r>
                    </a:p>
                  </a:txBody>
                  <a:tcPr marL="114300" marR="95250" marT="95250" marB="76200">
                    <a:solidFill>
                      <a:srgbClr val="F4F1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6242E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0,55 / 0,003</a:t>
                      </a:r>
                    </a:p>
                  </a:txBody>
                  <a:tcPr marL="114300" marR="95250" marT="95250" marB="76200">
                    <a:solidFill>
                      <a:srgbClr val="F4F1E9"/>
                    </a:solidFill>
                  </a:tcPr>
                </a:tc>
              </a:tr>
            </a:tbl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B2A817-E829-4626-BF4B-E272B47A6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695825"/>
            <a:ext cx="58674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6242E"/>
                </a:solidFill>
                <a:latin typeface="Nimbus Sans"/>
                <a:ea typeface="Nimbus Sans"/>
                <a:cs typeface="Nimbus Sans"/>
              </a:defRPr>
            </a:pPr>
            <a:r>
              <a:rPr sz="1800" b="0">
                <a:solidFill>
                  <a:srgbClr val="16242E"/>
                </a:solidFill>
                <a:latin typeface="Nimbus Sans"/>
                <a:ea typeface="Nimbus Sans"/>
                <a:cs typeface="Nimbus Sans"/>
              </a:rPr>
              <a:t>Mesa: 2,20 × 1,20 m. Banco: 0,50 m.</a:t>
            </a:r>
          </a:p>
          <a:p xmlns:a="http://schemas.openxmlformats.org/drawingml/2006/main">
            <a:pPr>
              <a:defRPr sz="1800" b="0">
                <a:solidFill>
                  <a:srgbClr val="16242E"/>
                </a:solidFill>
                <a:latin typeface="Nimbus Sans"/>
                <a:ea typeface="Nimbus Sans"/>
                <a:cs typeface="Nimbus Sans"/>
              </a:defRPr>
            </a:pPr>
            <a:r>
              <a:rPr sz="1800" b="0">
                <a:solidFill>
                  <a:srgbClr val="16242E"/>
                </a:solidFill>
                <a:latin typeface="Nimbus Sans"/>
                <a:ea typeface="Nimbus Sans"/>
                <a:cs typeface="Nimbus Sans"/>
              </a:rPr>
              <a:t>Bastões: 0,40 m, ocultos no início.</a:t>
            </a:r>
          </a:p>
          <a:p xmlns:a="http://schemas.openxmlformats.org/drawingml/2006/main">
            <a:pPr>
              <a:defRPr sz="1800" b="0">
                <a:solidFill>
                  <a:srgbClr val="16242E"/>
                </a:solidFill>
                <a:latin typeface="Nimbus Sans"/>
                <a:ea typeface="Nimbus Sans"/>
                <a:cs typeface="Nimbus Sans"/>
              </a:defRPr>
            </a:pPr>
            <a:r>
              <a:rPr sz="1800" b="0">
                <a:solidFill>
                  <a:srgbClr val="16242E"/>
                </a:solidFill>
                <a:latin typeface="Nimbus Sans"/>
                <a:ea typeface="Nimbus Sans"/>
                <a:cs typeface="Nimbus Sans"/>
              </a:rPr>
              <a:t>Estrutura com apoios de 0,62 a 1,10 m.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203616-D7CF-4924-A2BD-3437FA710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A65337"/>
                </a:solidFill>
                <a:latin typeface="Nimbus Sans"/>
                <a:ea typeface="Nimbus Sans"/>
                <a:cs typeface="Nimbus Sans"/>
              </a:defRPr>
            </a:pPr>
            <a:r>
              <a:rPr sz="1800" b="0">
                <a:solidFill>
                  <a:srgbClr val="A65337"/>
                </a:solidFill>
                <a:latin typeface="Nimbus Sans"/>
                <a:ea typeface="Nimbus Sans"/>
                <a:cs typeface="Nimbus Sans"/>
              </a:rPr>
              <a:t>Escolha: passo de 6 cm; diâmetros quase iguais confundiriam peças.</a:t>
            </a:r>
          </a:p>
          <a:p xmlns:a="http://schemas.openxmlformats.org/drawingml/2006/main">
            <a:pPr>
              <a:defRPr sz="1800" b="0">
                <a:solidFill>
                  <a:srgbClr val="A65337"/>
                </a:solidFill>
                <a:latin typeface="Nimbus Sans"/>
                <a:ea typeface="Nimbus Sans"/>
                <a:cs typeface="Nimbus Sans"/>
              </a:defRPr>
            </a:pPr>
            <a:r>
              <a:rPr sz="1800" b="0">
                <a:solidFill>
                  <a:srgbClr val="A65337"/>
                </a:solidFill>
                <a:latin typeface="Nimbus Sans"/>
                <a:ea typeface="Nimbus Sans"/>
                <a:cs typeface="Nimbus Sans"/>
              </a:rPr>
              <a:t>Custo: distinguir peças e validar alcance. Armadilha: perder a referência de tamanho ao pegar uma peça.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C0EB66-07B6-4A90-8CAF-189FCDD74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66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26D"/>
                </a:solidFill>
                <a:latin typeface="Nimbus Sans"/>
                <a:ea typeface="Nimbus Sans"/>
                <a:cs typeface="Nimbus Sans"/>
              </a:defRPr>
            </a:pPr>
            <a:r>
              <a:rPr sz="1125" b="0">
                <a:solidFill>
                  <a:srgbClr val="52626D"/>
                </a:solidFill>
                <a:latin typeface="Nimbus Sans"/>
                <a:ea typeface="Nimbus Sans"/>
                <a:cs typeface="Nimbus Sans"/>
              </a:rPr>
              <a:t>docs/especificacao.md, seções 1–6; ts/src/bateria/dominio.ts</a:t>
            </a:r>
          </a:p>
        </p:txBody>
      </p:sp>
    </p:spTree>
    <p:extLst>
      <p:ext uri="{BB962C8B-B14F-4D97-AF65-F5344CB8AC3E}">
        <p14:creationId xmlns:p14="http://schemas.microsoft.com/office/powerpoint/2010/main" val="17096045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1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20C212-555E-4B4B-8E07-80E268EF8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6242E"/>
                </a:solidFill>
                <a:latin typeface="Nimbus Sans"/>
                <a:ea typeface="Nimbus Sans"/>
                <a:cs typeface="Nimbus Sans"/>
              </a:defRPr>
            </a:pPr>
            <a:r>
              <a:rPr sz="3450" b="1">
                <a:solidFill>
                  <a:srgbClr val="16242E"/>
                </a:solidFill>
                <a:latin typeface="Nimbus Sans"/>
                <a:ea typeface="Nimbus Sans"/>
                <a:cs typeface="Nimbus Sans"/>
              </a:rPr>
              <a:t>Os três regimes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932162-18E4-405B-8188-A9F5E3F30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47675"/>
            <a:ext cx="38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2626D"/>
                </a:solidFill>
                <a:latin typeface="Nimbus Sans"/>
                <a:ea typeface="Nimbus Sans"/>
                <a:cs typeface="Nimbus Sans"/>
              </a:defRPr>
            </a:pPr>
            <a:r>
              <a:rPr sz="1650" b="0">
                <a:solidFill>
                  <a:srgbClr val="52626D"/>
                </a:solidFill>
                <a:latin typeface="Nimbus Sans"/>
                <a:ea typeface="Nimbus Sans"/>
                <a:cs typeface="Nimbus Sans"/>
              </a:rPr>
              <a:t>03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09600" y="1400175"/>
          <a:ext xmlns:a="http://schemas.openxmlformats.org/drawingml/2006/main" cx="10972800" cy="29337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123950"/>
                <a:gridCol w="2066925"/>
                <a:gridCol w="2543175"/>
                <a:gridCol w="2619375"/>
                <a:gridCol w="2619375"/>
              </a:tblGrid>
              <a:tr h="7334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Regime</a:t>
                      </a:r>
                    </a:p>
                  </a:txBody>
                  <a:tcPr marL="114300" marR="95250" marT="95250" marB="76200">
                    <a:solidFill>
                      <a:srgbClr val="1624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Mundo observado</a:t>
                      </a:r>
                    </a:p>
                  </a:txBody>
                  <a:tcPr marL="114300" marR="95250" marT="95250" marB="76200">
                    <a:solidFill>
                      <a:srgbClr val="1624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Referência</a:t>
                      </a:r>
                    </a:p>
                  </a:txBody>
                  <a:tcPr marL="114300" marR="95250" marT="95250" marB="76200">
                    <a:solidFill>
                      <a:srgbClr val="1624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Rastreia</a:t>
                      </a:r>
                    </a:p>
                  </a:txBody>
                  <a:tcPr marL="114300" marR="95250" marT="95250" marB="76200">
                    <a:solidFill>
                      <a:srgbClr val="1624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Registro</a:t>
                      </a:r>
                    </a:p>
                  </a:txBody>
                  <a:tcPr marL="114300" marR="95250" marT="95250" marB="76200">
                    <a:solidFill>
                      <a:srgbClr val="16242E"/>
                    </a:solidFill>
                  </a:tcPr>
                </a:tc>
              </a:tr>
              <a:tr h="7334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6242E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Tela</a:t>
                      </a:r>
                    </a:p>
                  </a:txBody>
                  <a:tcPr marL="114300" marR="95250" marT="95250" marB="76200">
                    <a:solidFill>
                      <a:srgbClr val="F4F1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6242E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Exibe na janela</a:t>
                      </a:r>
                    </a:p>
                  </a:txBody>
                  <a:tcPr marL="114300" marR="95250" marT="95250" marB="76200">
                    <a:solidFill>
                      <a:srgbClr val="F4F1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6242E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Origem virtual</a:t>
                      </a:r>
                    </a:p>
                  </a:txBody>
                  <a:tcPr marL="114300" marR="95250" marT="95250" marB="76200">
                    <a:solidFill>
                      <a:srgbClr val="F4F1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6242E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Mouse, sem</a:t>
                      </a:r>
                    </a:p>
                    <a:p>
                      <a:r>
                        <a:rPr sz="1800">
                          <a:solidFill>
                            <a:srgbClr val="16242E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corpo rastreado</a:t>
                      </a:r>
                    </a:p>
                  </a:txBody>
                  <a:tcPr marL="114300" marR="95250" marT="95250" marB="76200">
                    <a:solidFill>
                      <a:srgbClr val="F4F1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6242E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Sala virtual</a:t>
                      </a:r>
                    </a:p>
                  </a:txBody>
                  <a:tcPr marL="114300" marR="95250" marT="95250" marB="76200">
                    <a:solidFill>
                      <a:srgbClr val="F4F1E9"/>
                    </a:solidFill>
                  </a:tcPr>
                </a:tc>
              </a:tr>
              <a:tr h="7334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6242E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VR</a:t>
                      </a:r>
                    </a:p>
                  </a:txBody>
                  <a:tcPr marL="114300" marR="95250" marT="95250" marB="76200">
                    <a:solidFill>
                      <a:srgbClr val="F4F1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6242E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Substitui</a:t>
                      </a:r>
                    </a:p>
                  </a:txBody>
                  <a:tcPr marL="114300" marR="95250" marT="95250" marB="76200">
                    <a:solidFill>
                      <a:srgbClr val="F4F1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6242E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local-floor</a:t>
                      </a:r>
                    </a:p>
                  </a:txBody>
                  <a:tcPr marL="114300" marR="95250" marT="95250" marB="76200">
                    <a:solidFill>
                      <a:srgbClr val="F4F1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6242E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Cabeça e</a:t>
                      </a:r>
                    </a:p>
                    <a:p>
                      <a:r>
                        <a:rPr sz="1800">
                          <a:solidFill>
                            <a:srgbClr val="16242E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entradas concedidas</a:t>
                      </a:r>
                    </a:p>
                  </a:txBody>
                  <a:tcPr marL="114300" marR="95250" marT="95250" marB="76200">
                    <a:solidFill>
                      <a:srgbClr val="F4F1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6242E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Chão físico</a:t>
                      </a:r>
                    </a:p>
                    <a:p>
                      <a:r>
                        <a:rPr sz="1800">
                          <a:solidFill>
                            <a:srgbClr val="16242E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1:1</a:t>
                      </a:r>
                    </a:p>
                  </a:txBody>
                  <a:tcPr marL="114300" marR="95250" marT="95250" marB="76200">
                    <a:solidFill>
                      <a:srgbClr val="F4F1E9"/>
                    </a:solidFill>
                  </a:tcPr>
                </a:tc>
              </a:tr>
              <a:tr h="7334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6242E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AR</a:t>
                      </a:r>
                    </a:p>
                  </a:txBody>
                  <a:tcPr marL="114300" marR="95250" marT="95250" marB="76200">
                    <a:solidFill>
                      <a:srgbClr val="F4F1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6242E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Preserva e</a:t>
                      </a:r>
                    </a:p>
                    <a:p>
                      <a:r>
                        <a:rPr sz="1800">
                          <a:solidFill>
                            <a:srgbClr val="16242E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sobrepõe</a:t>
                      </a:r>
                    </a:p>
                  </a:txBody>
                  <a:tcPr marL="114300" marR="95250" marT="95250" marB="76200">
                    <a:solidFill>
                      <a:srgbClr val="F4F1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6242E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local + viewer</a:t>
                      </a:r>
                    </a:p>
                    <a:p>
                      <a:r>
                        <a:rPr sz="1800">
                          <a:solidFill>
                            <a:srgbClr val="16242E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para o raio</a:t>
                      </a:r>
                    </a:p>
                  </a:txBody>
                  <a:tcPr marL="114300" marR="95250" marT="95250" marB="76200">
                    <a:solidFill>
                      <a:srgbClr val="F4F1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6242E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Pose e</a:t>
                      </a:r>
                    </a:p>
                    <a:p>
                      <a:r>
                        <a:rPr sz="1800">
                          <a:solidFill>
                            <a:srgbClr val="16242E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superfícies</a:t>
                      </a:r>
                    </a:p>
                  </a:txBody>
                  <a:tcPr marL="114300" marR="95250" marT="95250" marB="76200">
                    <a:solidFill>
                      <a:srgbClr val="F4F1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6242E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Mesa escolhida</a:t>
                      </a:r>
                    </a:p>
                    <a:p>
                      <a:r>
                        <a:rPr sz="1800">
                          <a:solidFill>
                            <a:srgbClr val="16242E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1:5</a:t>
                      </a:r>
                    </a:p>
                  </a:txBody>
                  <a:tcPr marL="114300" marR="95250" marT="95250" marB="76200">
                    <a:solidFill>
                      <a:srgbClr val="F4F1E9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5F8E6C-991E-42BC-99BF-88DF4501B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00575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6242E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725" b="0">
                <a:solidFill>
                  <a:srgbClr val="16242E"/>
                </a:solidFill>
                <a:latin typeface="DejaVu Sans Mono"/>
                <a:ea typeface="DejaVu Sans Mono"/>
                <a:cs typeface="DejaVu Sans Mono"/>
              </a:rPr>
              <a:t>    id: 'immersive-ar',</a:t>
            </a:r>
          </a:p>
          <a:p xmlns:a="http://schemas.openxmlformats.org/drawingml/2006/main">
            <a:pPr>
              <a:defRPr sz="1725" b="0">
                <a:solidFill>
                  <a:srgbClr val="16242E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725" b="0">
                <a:solidFill>
                  <a:srgbClr val="16242E"/>
                </a:solidFill>
                <a:latin typeface="DejaVu Sans Mono"/>
                <a:ea typeface="DejaVu Sans Mono"/>
                <a:cs typeface="DejaVu Sans Mono"/>
              </a:rPr>
              <a:t>    referencia: 'local; viewer para o raio do hit-test',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9DC5B0-AE5C-4D21-8A28-3F5A04308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24475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A65337"/>
                </a:solidFill>
                <a:latin typeface="Nimbus Sans"/>
                <a:ea typeface="Nimbus Sans"/>
                <a:cs typeface="Nimbus Sans"/>
              </a:defRPr>
            </a:pPr>
            <a:r>
              <a:rPr sz="1875" b="0">
                <a:solidFill>
                  <a:srgbClr val="A65337"/>
                </a:solidFill>
                <a:latin typeface="Nimbus Sans"/>
                <a:ea typeface="Nimbus Sans"/>
                <a:cs typeface="Nimbus Sans"/>
              </a:rPr>
              <a:t>Hoje: cena por tela. VR e AR são compromissos para os próximos módulos.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654996-40D3-4897-B559-75537934F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A65337"/>
                </a:solidFill>
                <a:latin typeface="Nimbus Sans"/>
                <a:ea typeface="Nimbus Sans"/>
                <a:cs typeface="Nimbus Sans"/>
              </a:defRPr>
            </a:pPr>
            <a:r>
              <a:rPr sz="1800" b="0">
                <a:solidFill>
                  <a:srgbClr val="A65337"/>
                </a:solidFill>
                <a:latin typeface="Nimbus Sans"/>
                <a:ea typeface="Nimbus Sans"/>
                <a:cs typeface="Nimbus Sans"/>
              </a:rPr>
              <a:t>Alternativa: um registro único. Descarte: origem virtual, chão e mesa exigem relações diferentes.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EC62D3-20BA-4F1E-ABF4-627D836F8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66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26D"/>
                </a:solidFill>
                <a:latin typeface="Nimbus Sans"/>
                <a:ea typeface="Nimbus Sans"/>
                <a:cs typeface="Nimbus Sans"/>
              </a:defRPr>
            </a:pPr>
            <a:r>
              <a:rPr sz="1125" b="0">
                <a:solidFill>
                  <a:srgbClr val="52626D"/>
                </a:solidFill>
                <a:latin typeface="Nimbus Sans"/>
                <a:ea typeface="Nimbus Sans"/>
                <a:cs typeface="Nimbus Sans"/>
              </a:rPr>
              <a:t>ts/src/bancada/modes/regimes.ts; docs/especificacao.md, seção 9</a:t>
            </a:r>
          </a:p>
        </p:txBody>
      </p:sp>
    </p:spTree>
    <p:extLst>
      <p:ext uri="{BB962C8B-B14F-4D97-AF65-F5344CB8AC3E}">
        <p14:creationId xmlns:p14="http://schemas.microsoft.com/office/powerpoint/2010/main" val="22754267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1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ACECAE-C8A6-448A-A7F8-22B7A2278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6242E"/>
                </a:solidFill>
                <a:latin typeface="Nimbus Sans"/>
                <a:ea typeface="Nimbus Sans"/>
                <a:cs typeface="Nimbus Sans"/>
              </a:defRPr>
            </a:pPr>
            <a:r>
              <a:rPr sz="3450" b="1">
                <a:solidFill>
                  <a:srgbClr val="16242E"/>
                </a:solidFill>
                <a:latin typeface="Nimbus Sans"/>
                <a:ea typeface="Nimbus Sans"/>
                <a:cs typeface="Nimbus Sans"/>
              </a:rPr>
              <a:t>O que o aparelho oferece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607A75-C071-4FAD-877D-B060FE410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47675"/>
            <a:ext cx="38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2626D"/>
                </a:solidFill>
                <a:latin typeface="Nimbus Sans"/>
                <a:ea typeface="Nimbus Sans"/>
                <a:cs typeface="Nimbus Sans"/>
              </a:defRPr>
            </a:pPr>
            <a:r>
              <a:rPr sz="1650" b="0">
                <a:solidFill>
                  <a:srgbClr val="52626D"/>
                </a:solidFill>
                <a:latin typeface="Nimbus Sans"/>
                <a:ea typeface="Nimbus Sans"/>
                <a:cs typeface="Nimbus Sans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55839E-B79D-41EF-873C-6306CFE3F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0175"/>
            <a:ext cx="10906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6242E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725" b="0">
                <a:solidFill>
                  <a:srgbClr val="16242E"/>
                </a:solidFill>
                <a:latin typeface="DejaVu Sans Mono"/>
                <a:ea typeface="DejaVu Sans Mono"/>
                <a:cs typeface="DejaVu Sans Mono"/>
              </a:rPr>
              <a:t>    const suportado: boolean = await xr.isSessionSupported(regime.id);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3027BA-E2FE-47DF-AB7E-159CB39EE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28825"/>
            <a:ext cx="109537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6242E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725" b="0">
                <a:solidFill>
                  <a:srgbClr val="16242E"/>
                </a:solidFill>
                <a:latin typeface="DejaVu Sans Mono"/>
                <a:ea typeface="DejaVu Sans Mono"/>
                <a:cs typeface="DejaVu Sans Mono"/>
              </a:rPr>
              <a:t>  const sessao: XRSession = await xr.requestSession(modo, {</a:t>
            </a:r>
          </a:p>
          <a:p xmlns:a="http://schemas.openxmlformats.org/drawingml/2006/main">
            <a:pPr>
              <a:defRPr sz="1725" b="0">
                <a:solidFill>
                  <a:srgbClr val="16242E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725" b="0">
                <a:solidFill>
                  <a:srgbClr val="16242E"/>
                </a:solidFill>
                <a:latin typeface="DejaVu Sans Mono"/>
                <a:ea typeface="DejaVu Sans Mono"/>
                <a:cs typeface="DejaVu Sans Mono"/>
              </a:rPr>
              <a:t>    optionalFeatures: nomesConsultados(),</a:t>
            </a:r>
          </a:p>
          <a:p xmlns:a="http://schemas.openxmlformats.org/drawingml/2006/main">
            <a:pPr>
              <a:defRPr sz="1725" b="0">
                <a:solidFill>
                  <a:srgbClr val="16242E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725" b="0">
                <a:solidFill>
                  <a:srgbClr val="16242E"/>
                </a:solidFill>
                <a:latin typeface="DejaVu Sans Mono"/>
                <a:ea typeface="DejaVu Sans Mono"/>
                <a:cs typeface="DejaVu Sans Mono"/>
              </a:rPr>
              <a:t>  });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87D254-8FE8-4B92-BD40-74D6F30A6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05175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6242E"/>
                </a:solidFill>
                <a:latin typeface="Nimbus Sans"/>
                <a:ea typeface="Nimbus Sans"/>
                <a:cs typeface="Nimbus Sans"/>
              </a:defRPr>
            </a:pPr>
            <a:r>
              <a:rPr sz="2250" b="1">
                <a:solidFill>
                  <a:srgbClr val="16242E"/>
                </a:solidFill>
                <a:latin typeface="Nimbus Sans"/>
                <a:ea typeface="Nimbus Sans"/>
                <a:cs typeface="Nimbus Sans"/>
              </a:rPr>
              <a:t>API ausente ≠ sessão negada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07604F-C1DF-4309-A59E-26C020792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6242E"/>
                </a:solidFill>
                <a:latin typeface="Nimbus Sans"/>
                <a:ea typeface="Nimbus Sans"/>
                <a:cs typeface="Nimbus Sans"/>
              </a:defRPr>
            </a:pPr>
            <a:r>
              <a:rPr sz="1950" b="0">
                <a:solidFill>
                  <a:srgbClr val="16242E"/>
                </a:solidFill>
                <a:latin typeface="Nimbus Sans"/>
                <a:ea typeface="Nimbus Sans"/>
                <a:cs typeface="Nimbus Sans"/>
              </a:rPr>
              <a:t>Recurso fora da lista: não concedido. A causa pode não estar disponível.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609600" y="4238625"/>
          <a:ext xmlns:a="http://schemas.openxmlformats.org/drawingml/2006/main" cx="10972800" cy="1428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734050"/>
                <a:gridCol w="2381250"/>
                <a:gridCol w="2857500"/>
              </a:tblGrid>
              <a:tr h="4762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Mesmo endereço: /</a:t>
                      </a:r>
                    </a:p>
                  </a:txBody>
                  <a:tcPr marL="114300" marR="95250" marT="95250" marB="76200">
                    <a:solidFill>
                      <a:srgbClr val="1624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Tela</a:t>
                      </a:r>
                    </a:p>
                  </a:txBody>
                  <a:tcPr marL="114300" marR="95250" marT="95250" marB="76200">
                    <a:solidFill>
                      <a:srgbClr val="1624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VR / AR</a:t>
                      </a:r>
                    </a:p>
                  </a:txBody>
                  <a:tcPr marL="114300" marR="95250" marT="95250" marB="76200">
                    <a:solidFill>
                      <a:srgbClr val="16242E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6242E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Notebook (Windows, Chrome 153)</a:t>
                      </a:r>
                    </a:p>
                  </a:txBody>
                  <a:tcPr marL="114300" marR="95250" marT="95250" marB="76200">
                    <a:solidFill>
                      <a:srgbClr val="F4F1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6242E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Abriu</a:t>
                      </a:r>
                    </a:p>
                  </a:txBody>
                  <a:tcPr marL="114300" marR="95250" marT="95250" marB="76200">
                    <a:solidFill>
                      <a:srgbClr val="F4F1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6242E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Não suportados</a:t>
                      </a:r>
                    </a:p>
                  </a:txBody>
                  <a:tcPr marL="114300" marR="95250" marT="95250" marB="76200">
                    <a:solidFill>
                      <a:srgbClr val="F4F1E9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6242E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POCO X5 Pro 5G (Android 14)</a:t>
                      </a:r>
                    </a:p>
                  </a:txBody>
                  <a:tcPr marL="114300" marR="95250" marT="95250" marB="76200">
                    <a:solidFill>
                      <a:srgbClr val="F4F1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6242E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Abriu</a:t>
                      </a:r>
                    </a:p>
                  </a:txBody>
                  <a:tcPr marL="114300" marR="95250" marT="95250" marB="76200">
                    <a:solidFill>
                      <a:srgbClr val="F4F1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6242E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Declarados; AR abriu</a:t>
                      </a:r>
                    </a:p>
                  </a:txBody>
                  <a:tcPr marL="114300" marR="95250" marT="95250" marB="76200">
                    <a:solidFill>
                      <a:srgbClr val="F4F1E9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5CA2FF-D4FB-4365-AD6D-9A0C8C20B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A65337"/>
                </a:solidFill>
                <a:latin typeface="Nimbus Sans"/>
                <a:ea typeface="Nimbus Sans"/>
                <a:cs typeface="Nimbus Sans"/>
              </a:defRPr>
            </a:pPr>
            <a:r>
              <a:rPr sz="1800" b="0">
                <a:solidFill>
                  <a:srgbClr val="A65337"/>
                </a:solidFill>
                <a:latin typeface="Nimbus Sans"/>
                <a:ea typeface="Nimbus Sans"/>
                <a:cs typeface="Nimbus Sans"/>
              </a:rPr>
              <a:t>Alternativa: deduzir suporte pelo navegador. Descarte: nome do aparelho não comprova capacidade.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F9FC79-DAA6-4304-A2FD-221CE4071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66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26D"/>
                </a:solidFill>
                <a:latin typeface="Nimbus Sans"/>
                <a:ea typeface="Nimbus Sans"/>
                <a:cs typeface="Nimbus Sans"/>
              </a:defRPr>
            </a:pPr>
            <a:r>
              <a:rPr sz="1125" b="0">
                <a:solidFill>
                  <a:srgbClr val="52626D"/>
                </a:solidFill>
                <a:latin typeface="Nimbus Sans"/>
                <a:ea typeface="Nimbus Sans"/>
                <a:cs typeface="Nimbus Sans"/>
              </a:rPr>
              <a:t>ts/src/bancada/{modes/verificacao.ts, devices/sonda.ts}; docs/evidencias/{sonda-pc.png, sonda-celular-*.jpg}</a:t>
            </a:r>
          </a:p>
        </p:txBody>
      </p:sp>
    </p:spTree>
    <p:extLst>
      <p:ext uri="{BB962C8B-B14F-4D97-AF65-F5344CB8AC3E}">
        <p14:creationId xmlns:p14="http://schemas.microsoft.com/office/powerpoint/2010/main" val="111799381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1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E8545C-8E50-4C0E-A999-7E638EBDE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6242E"/>
                </a:solidFill>
                <a:latin typeface="Nimbus Sans"/>
                <a:ea typeface="Nimbus Sans"/>
                <a:cs typeface="Nimbus Sans"/>
              </a:defRPr>
            </a:pPr>
            <a:r>
              <a:rPr sz="3450" b="1">
                <a:solidFill>
                  <a:srgbClr val="16242E"/>
                </a:solidFill>
                <a:latin typeface="Nimbus Sans"/>
                <a:ea typeface="Nimbus Sans"/>
                <a:cs typeface="Nimbus Sans"/>
              </a:rPr>
              <a:t>A cena como árvore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2CE94F-3CB5-4AF7-BA26-B5B46737A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47675"/>
            <a:ext cx="38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2626D"/>
                </a:solidFill>
                <a:latin typeface="Nimbus Sans"/>
                <a:ea typeface="Nimbus Sans"/>
                <a:cs typeface="Nimbus Sans"/>
              </a:defRPr>
            </a:pPr>
            <a:r>
              <a:rPr sz="1650" b="0">
                <a:solidFill>
                  <a:srgbClr val="52626D"/>
                </a:solidFill>
                <a:latin typeface="Nimbus Sans"/>
                <a:ea typeface="Nimbus Sans"/>
                <a:cs typeface="Nimbus Sans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01FA6C-4E7A-4BCB-B4B1-B86561D92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685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2626D"/>
                </a:solidFill>
                <a:latin typeface="Nimbus Sans"/>
                <a:ea typeface="Nimbus Sans"/>
                <a:cs typeface="Nimbus Sans"/>
              </a:defRPr>
            </a:pPr>
            <a:r>
              <a:rPr sz="2025" b="0">
                <a:solidFill>
                  <a:srgbClr val="52626D"/>
                </a:solidFill>
                <a:latin typeface="Nimbus Sans"/>
                <a:ea typeface="Nimbus Sans"/>
                <a:cs typeface="Nimbus Sans"/>
              </a:rPr>
              <a:t>Recorte da estrutura da bateria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1D95CF-A8A1-4435-8AD0-B340D14D3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038350"/>
            <a:ext cx="2286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7E9"/>
          </a:solidFill>
          <a:ln xmlns:a="http://schemas.openxmlformats.org/drawingml/2006/main" w="9525">
            <a:solidFill>
              <a:srgbClr val="879DA4"/>
            </a:solidFill>
          </a:ln>
        </p:spPr>
        <p:txBody>
          <a:bodyPr xmlns:a="http://schemas.openxmlformats.org/drawingml/2006/main" lIns="76200" tIns="28575" rIns="76200" bIns="28575" anchor="ctr"/>
          <a:lstStyle xmlns:a="http://schemas.openxmlformats.org/drawingml/2006/main"/>
          <a:p xmlns:a="http://schemas.openxmlformats.org/drawingml/2006/main">
            <a:pPr algn="ctr">
              <a:defRPr sz="1800">
                <a:solidFill>
                  <a:srgbClr val="16242E"/>
                </a:solidFill>
                <a:latin typeface="Nimbus Sans"/>
                <a:ea typeface="Nimbus Sans"/>
                <a:cs typeface="Nimbus Sans"/>
              </a:defRPr>
            </a:pPr>
            <a:r>
              <a:rPr sz="1800">
                <a:solidFill>
                  <a:srgbClr val="16242E"/>
                </a:solidFill>
                <a:latin typeface="Nimbus Sans"/>
                <a:ea typeface="Nimbus Sans"/>
                <a:cs typeface="Nimbus Sans"/>
              </a:rPr>
              <a:t>estrutura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366E6F-D9D1-4F18-AC21-9E2436127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62300"/>
            <a:ext cx="24003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7E9"/>
          </a:solidFill>
          <a:ln xmlns:a="http://schemas.openxmlformats.org/drawingml/2006/main" w="9525">
            <a:solidFill>
              <a:srgbClr val="879DA4"/>
            </a:solidFill>
          </a:ln>
        </p:spPr>
        <p:txBody>
          <a:bodyPr xmlns:a="http://schemas.openxmlformats.org/drawingml/2006/main" lIns="76200" tIns="28575" rIns="76200" bIns="28575" anchor="ctr"/>
          <a:lstStyle xmlns:a="http://schemas.openxmlformats.org/drawingml/2006/main"/>
          <a:p xmlns:a="http://schemas.openxmlformats.org/drawingml/2006/main">
            <a:pPr algn="ctr">
              <a:defRPr sz="1800">
                <a:solidFill>
                  <a:srgbClr val="16242E"/>
                </a:solidFill>
                <a:latin typeface="Nimbus Sans"/>
                <a:ea typeface="Nimbus Sans"/>
                <a:cs typeface="Nimbus Sans"/>
              </a:defRPr>
            </a:pPr>
            <a:r>
              <a:rPr sz="1800">
                <a:solidFill>
                  <a:srgbClr val="16242E"/>
                </a:solidFill>
                <a:latin typeface="Nimbus Sans"/>
                <a:ea typeface="Nimbus Sans"/>
                <a:cs typeface="Nimbus Sans"/>
              </a:rPr>
              <a:t>suporte-prato-1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E9C9FF-4073-4F10-A752-1C14F58E5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3162300"/>
            <a:ext cx="24003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7E9"/>
          </a:solidFill>
          <a:ln xmlns:a="http://schemas.openxmlformats.org/drawingml/2006/main" w="9525">
            <a:solidFill>
              <a:srgbClr val="879DA4"/>
            </a:solidFill>
          </a:ln>
        </p:spPr>
        <p:txBody>
          <a:bodyPr xmlns:a="http://schemas.openxmlformats.org/drawingml/2006/main" lIns="76200" tIns="28575" rIns="76200" bIns="28575" anchor="ctr"/>
          <a:lstStyle xmlns:a="http://schemas.openxmlformats.org/drawingml/2006/main"/>
          <a:p xmlns:a="http://schemas.openxmlformats.org/drawingml/2006/main">
            <a:pPr algn="ctr">
              <a:defRPr sz="1800">
                <a:solidFill>
                  <a:srgbClr val="16242E"/>
                </a:solidFill>
                <a:latin typeface="Nimbus Sans"/>
                <a:ea typeface="Nimbus Sans"/>
                <a:cs typeface="Nimbus Sans"/>
              </a:defRPr>
            </a:pPr>
            <a:r>
              <a:rPr sz="1800">
                <a:solidFill>
                  <a:srgbClr val="16242E"/>
                </a:solidFill>
                <a:latin typeface="Nimbus Sans"/>
                <a:ea typeface="Nimbus Sans"/>
                <a:cs typeface="Nimbus Sans"/>
              </a:rPr>
              <a:t>painel de custo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4BC54B-1B9C-4CBE-97C4-4FA7207D9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95775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7E9"/>
          </a:solidFill>
          <a:ln xmlns:a="http://schemas.openxmlformats.org/drawingml/2006/main" w="9525">
            <a:solidFill>
              <a:srgbClr val="879DA4"/>
            </a:solidFill>
          </a:ln>
        </p:spPr>
        <p:txBody>
          <a:bodyPr xmlns:a="http://schemas.openxmlformats.org/drawingml/2006/main" lIns="76200" tIns="28575" rIns="76200" bIns="28575" anchor="ctr"/>
          <a:lstStyle xmlns:a="http://schemas.openxmlformats.org/drawingml/2006/main"/>
          <a:p xmlns:a="http://schemas.openxmlformats.org/drawingml/2006/main">
            <a:pPr algn="ctr">
              <a:defRPr sz="1800">
                <a:solidFill>
                  <a:srgbClr val="16242E"/>
                </a:solidFill>
                <a:latin typeface="Nimbus Sans"/>
                <a:ea typeface="Nimbus Sans"/>
                <a:cs typeface="Nimbus Sans"/>
              </a:defRPr>
            </a:pPr>
            <a:r>
              <a:rPr sz="1800">
                <a:solidFill>
                  <a:srgbClr val="16242E"/>
                </a:solidFill>
                <a:latin typeface="Nimbus Sans"/>
                <a:ea typeface="Nimbus Sans"/>
                <a:cs typeface="Nimbus Sans"/>
              </a:rPr>
              <a:t>garra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A94519-1A6B-4FF4-800F-44BE55F11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295775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7E9"/>
          </a:solidFill>
          <a:ln xmlns:a="http://schemas.openxmlformats.org/drawingml/2006/main" w="9525">
            <a:solidFill>
              <a:srgbClr val="879DA4"/>
            </a:solidFill>
          </a:ln>
        </p:spPr>
        <p:txBody>
          <a:bodyPr xmlns:a="http://schemas.openxmlformats.org/drawingml/2006/main" lIns="76200" tIns="28575" rIns="76200" bIns="28575" anchor="ctr"/>
          <a:lstStyle xmlns:a="http://schemas.openxmlformats.org/drawingml/2006/main"/>
          <a:p xmlns:a="http://schemas.openxmlformats.org/drawingml/2006/main">
            <a:pPr algn="ctr">
              <a:defRPr sz="1800">
                <a:solidFill>
                  <a:srgbClr val="16242E"/>
                </a:solidFill>
                <a:latin typeface="Nimbus Sans"/>
                <a:ea typeface="Nimbus Sans"/>
                <a:cs typeface="Nimbus Sans"/>
              </a:defRPr>
            </a:pPr>
            <a:r>
              <a:rPr sz="1800">
                <a:solidFill>
                  <a:srgbClr val="16242E"/>
                </a:solidFill>
                <a:latin typeface="Nimbus Sans"/>
                <a:ea typeface="Nimbus Sans"/>
                <a:cs typeface="Nimbus Sans"/>
              </a:rPr>
              <a:t>encaixe</a:t>
            </a:r>
          </a:p>
        </p:txBody>
      </p:sp>
      <p:cxnSp>
        <p:nvCxnSpPr>
          <p:cNvPr id="26" name=""/>
          <p:cNvCxnSpPr>
            <a:stCxn xmlns:a="http://schemas.openxmlformats.org/drawingml/2006/main" id="4" idx="2"/>
            <a:endCxn xmlns:a="http://schemas.openxmlformats.org/drawingml/2006/main" id="5" idx="0"/>
          </p:cNvCxnSpPr>
          <p:nvPr/>
        </p:nvCxnSpPr>
        <p:spPr>
          <a:xfrm xmlns:a="http://schemas.openxmlformats.org/drawingml/2006/main" flipH="1">
            <a:off x="1981200" y="2552700"/>
            <a:ext cx="1466850" cy="6096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718892"/>
            </a:solidFill>
            <a:tailEnd type="triangle" w="sm" len="sm"/>
          </a:ln>
        </p:spPr>
      </p:cxnSp>
      <p:cxnSp>
        <p:nvCxnSpPr>
          <p:cNvPr id="27" name=""/>
          <p:cNvCxnSpPr>
            <a:stCxn xmlns:a="http://schemas.openxmlformats.org/drawingml/2006/main" id="4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>
            <a:off x="3448050" y="2552700"/>
            <a:ext cx="1743075" cy="6096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718892"/>
            </a:solidFill>
            <a:tailEnd type="triangle" w="sm" len="sm"/>
          </a:ln>
        </p:spPr>
      </p:cxnSp>
      <p:cxnSp>
        <p:nvCxnSpPr>
          <p:cNvPr id="28" name=""/>
          <p:cNvCxnSpPr>
            <a:stCxn xmlns:a="http://schemas.openxmlformats.org/drawingml/2006/main" id="5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 flipH="1">
            <a:off x="1514475" y="3695700"/>
            <a:ext cx="466725" cy="6000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718892"/>
            </a:solidFill>
            <a:tailEnd type="triangle" w="sm" len="sm"/>
          </a:ln>
        </p:spPr>
      </p:cxnSp>
      <p:cxnSp>
        <p:nvCxnSpPr>
          <p:cNvPr id="29" name=""/>
          <p:cNvCxnSpPr>
            <a:stCxn xmlns:a="http://schemas.openxmlformats.org/drawingml/2006/main" id="5" idx="2"/>
            <a:endCxn xmlns:a="http://schemas.openxmlformats.org/drawingml/2006/main" id="8" idx="0"/>
          </p:cNvCxnSpPr>
          <p:nvPr/>
        </p:nvCxnSpPr>
        <p:spPr>
          <a:xfrm xmlns:a="http://schemas.openxmlformats.org/drawingml/2006/main">
            <a:off x="1981200" y="3695700"/>
            <a:ext cx="2009775" cy="6000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718892"/>
            </a:solidFill>
            <a:tailEnd type="triangle" w="sm" len="sm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125F10-9634-4C60-8A84-13C0487B6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085975"/>
            <a:ext cx="4619625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6242E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725" b="0">
                <a:solidFill>
                  <a:srgbClr val="16242E"/>
                </a:solidFill>
                <a:latin typeface="DejaVu Sans Mono"/>
                <a:ea typeface="DejaVu Sans Mono"/>
                <a:cs typeface="DejaVu Sans Mono"/>
              </a:rPr>
              <a:t>    no.name = nome;</a:t>
            </a:r>
          </a:p>
          <a:p xmlns:a="http://schemas.openxmlformats.org/drawingml/2006/main">
            <a:pPr>
              <a:defRPr sz="1725" b="0">
                <a:solidFill>
                  <a:srgbClr val="16242E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725" b="0">
                <a:solidFill>
                  <a:srgbClr val="16242E"/>
                </a:solidFill>
                <a:latin typeface="DejaVu Sans Mono"/>
                <a:ea typeface="DejaVu Sans Mono"/>
                <a:cs typeface="DejaVu Sans Mono"/>
              </a:rPr>
              <a:t>    no.position.set(x, y, z);</a:t>
            </a:r>
          </a:p>
          <a:p xmlns:a="http://schemas.openxmlformats.org/drawingml/2006/main">
            <a:pPr>
              <a:defRPr sz="1725" b="0">
                <a:solidFill>
                  <a:srgbClr val="16242E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725" b="0">
                <a:solidFill>
                  <a:srgbClr val="16242E"/>
                </a:solidFill>
                <a:latin typeface="DejaVu Sans Mono"/>
                <a:ea typeface="DejaVu Sans Mono"/>
                <a:cs typeface="DejaVu Sans Mono"/>
              </a:rPr>
              <a:t>    pai.add(no);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9CA936-5680-4740-B3F5-98E8083B3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562350"/>
            <a:ext cx="4524375" cy="1133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242E"/>
                </a:solidFill>
                <a:latin typeface="Nimbus Sans"/>
                <a:ea typeface="Nimbus Sans"/>
                <a:cs typeface="Nimbus Sans"/>
              </a:defRPr>
            </a:pPr>
            <a:r>
              <a:rPr sz="2175" b="0">
                <a:solidFill>
                  <a:srgbClr val="16242E"/>
                </a:solidFill>
                <a:latin typeface="Nimbus Sans"/>
                <a:ea typeface="Nimbus Sans"/>
                <a:cs typeface="Nimbus Sans"/>
              </a:rPr>
              <a:t>O suporte muda de altura.</a:t>
            </a:r>
          </a:p>
          <a:p xmlns:a="http://schemas.openxmlformats.org/drawingml/2006/main">
            <a:pPr>
              <a:defRPr sz="2175" b="0">
                <a:solidFill>
                  <a:srgbClr val="16242E"/>
                </a:solidFill>
                <a:latin typeface="Nimbus Sans"/>
                <a:ea typeface="Nimbus Sans"/>
                <a:cs typeface="Nimbus Sans"/>
              </a:defRPr>
            </a:pPr>
            <a:r>
              <a:rPr sz="2175" b="0">
                <a:solidFill>
                  <a:srgbClr val="16242E"/>
                </a:solidFill>
                <a:latin typeface="Nimbus Sans"/>
                <a:ea typeface="Nimbus Sans"/>
                <a:cs typeface="Nimbus Sans"/>
              </a:rPr>
              <a:t>Garra, tubo móvel e encaixe</a:t>
            </a:r>
          </a:p>
          <a:p xmlns:a="http://schemas.openxmlformats.org/drawingml/2006/main">
            <a:pPr>
              <a:defRPr sz="2175" b="0">
                <a:solidFill>
                  <a:srgbClr val="16242E"/>
                </a:solidFill>
                <a:latin typeface="Nimbus Sans"/>
                <a:ea typeface="Nimbus Sans"/>
                <a:cs typeface="Nimbus Sans"/>
              </a:defRPr>
            </a:pPr>
            <a:r>
              <a:rPr sz="2175" b="0">
                <a:solidFill>
                  <a:srgbClr val="16242E"/>
                </a:solidFill>
                <a:latin typeface="Nimbus Sans"/>
                <a:ea typeface="Nimbus Sans"/>
                <a:cs typeface="Nimbus Sans"/>
              </a:rPr>
              <a:t>acompanham o pai.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08B82E-93CE-497D-8D14-6682F13A3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924425"/>
            <a:ext cx="4476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26D"/>
                </a:solidFill>
                <a:latin typeface="Nimbus Sans"/>
                <a:ea typeface="Nimbus Sans"/>
                <a:cs typeface="Nimbus Sans"/>
              </a:defRPr>
            </a:pPr>
            <a:r>
              <a:rPr sz="1800" b="0">
                <a:solidFill>
                  <a:srgbClr val="52626D"/>
                </a:solidFill>
                <a:latin typeface="Nimbus Sans"/>
                <a:ea typeface="Nimbus Sans"/>
                <a:cs typeface="Nimbus Sans"/>
              </a:rPr>
              <a:t>A árvore completa aparece</a:t>
            </a:r>
          </a:p>
          <a:p xmlns:a="http://schemas.openxmlformats.org/drawingml/2006/main">
            <a:pPr>
              <a:defRPr sz="1800" b="0">
                <a:solidFill>
                  <a:srgbClr val="52626D"/>
                </a:solidFill>
                <a:latin typeface="Nimbus Sans"/>
                <a:ea typeface="Nimbus Sans"/>
                <a:cs typeface="Nimbus Sans"/>
              </a:defRPr>
            </a:pPr>
            <a:r>
              <a:rPr sz="1800" b="0">
                <a:solidFill>
                  <a:srgbClr val="52626D"/>
                </a:solidFill>
                <a:latin typeface="Nimbus Sans"/>
                <a:ea typeface="Nimbus Sans"/>
                <a:cs typeface="Nimbus Sans"/>
              </a:rPr>
              <a:t>na própria demonstração.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7278B9-DBE7-4438-8845-0BFBC1100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A65337"/>
                </a:solidFill>
                <a:latin typeface="Nimbus Sans"/>
                <a:ea typeface="Nimbus Sans"/>
                <a:cs typeface="Nimbus Sans"/>
              </a:defRPr>
            </a:pPr>
            <a:r>
              <a:rPr sz="1800" b="0">
                <a:solidFill>
                  <a:srgbClr val="A65337"/>
                </a:solidFill>
                <a:latin typeface="Nimbus Sans"/>
                <a:ea typeface="Nimbus Sans"/>
                <a:cs typeface="Nimbus Sans"/>
              </a:rPr>
              <a:t>Alternativa: coordenadas absolutas. Descarte: cada ajuste exigiria recalcular todos os filhos.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DC6F792-61C8-4BE0-9669-C2A590547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66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26D"/>
                </a:solidFill>
                <a:latin typeface="Nimbus Sans"/>
                <a:ea typeface="Nimbus Sans"/>
                <a:cs typeface="Nimbus Sans"/>
              </a:defRPr>
            </a:pPr>
            <a:r>
              <a:rPr sz="1125" b="0">
                <a:solidFill>
                  <a:srgbClr val="52626D"/>
                </a:solidFill>
                <a:latin typeface="Nimbus Sans"/>
                <a:ea typeface="Nimbus Sans"/>
                <a:cs typeface="Nimbus Sans"/>
              </a:rPr>
              <a:t>ts/src/bateria/cena.ts; ts/src/main.ts; docs/evidencias/browser.json</a:t>
            </a:r>
          </a:p>
        </p:txBody>
      </p:sp>
    </p:spTree>
    <p:extLst>
      <p:ext uri="{BB962C8B-B14F-4D97-AF65-F5344CB8AC3E}">
        <p14:creationId xmlns:p14="http://schemas.microsoft.com/office/powerpoint/2010/main" val="17896410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1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EFBE45-2693-48D3-A52B-B6940C427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6242E"/>
                </a:solidFill>
                <a:latin typeface="Nimbus Sans"/>
                <a:ea typeface="Nimbus Sans"/>
                <a:cs typeface="Nimbus Sans"/>
              </a:defRPr>
            </a:pPr>
            <a:r>
              <a:rPr sz="3450" b="1">
                <a:solidFill>
                  <a:srgbClr val="16242E"/>
                </a:solidFill>
                <a:latin typeface="Nimbus Sans"/>
                <a:ea typeface="Nimbus Sans"/>
                <a:cs typeface="Nimbus Sans"/>
              </a:rPr>
              <a:t>Trocar de pai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17B963-8452-4F81-AF01-A73DA2977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47675"/>
            <a:ext cx="38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2626D"/>
                </a:solidFill>
                <a:latin typeface="Nimbus Sans"/>
                <a:ea typeface="Nimbus Sans"/>
                <a:cs typeface="Nimbus Sans"/>
              </a:defRPr>
            </a:pPr>
            <a:r>
              <a:rPr sz="1650" b="0">
                <a:solidFill>
                  <a:srgbClr val="52626D"/>
                </a:solidFill>
                <a:latin typeface="Nimbus Sans"/>
                <a:ea typeface="Nimbus Sans"/>
                <a:cs typeface="Nimbus Sans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14272C-ADE3-408F-9A40-D625F37E9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0175"/>
            <a:ext cx="109347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6242E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16242E"/>
                </a:solidFill>
                <a:latin typeface="DejaVu Sans Mono"/>
                <a:ea typeface="DejaVu Sans Mono"/>
                <a:cs typeface="DejaVu Sans Mono"/>
              </a:rPr>
              <a:t>  const antes = objeto.getWorldPosition(new Vector3());</a:t>
            </a:r>
          </a:p>
          <a:p xmlns:a="http://schemas.openxmlformats.org/drawingml/2006/main">
            <a:pPr>
              <a:defRPr sz="1800" b="0">
                <a:solidFill>
                  <a:srgbClr val="16242E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16242E"/>
                </a:solidFill>
                <a:latin typeface="DejaVu Sans Mono"/>
                <a:ea typeface="DejaVu Sans Mono"/>
                <a:cs typeface="DejaVu Sans Mono"/>
              </a:rPr>
              <a:t>  novoPai.attach(objeto);</a:t>
            </a:r>
          </a:p>
          <a:p xmlns:a="http://schemas.openxmlformats.org/drawingml/2006/main">
            <a:pPr>
              <a:defRPr sz="1800" b="0">
                <a:solidFill>
                  <a:srgbClr val="16242E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16242E"/>
                </a:solidFill>
                <a:latin typeface="DejaVu Sans Mono"/>
                <a:ea typeface="DejaVu Sans Mono"/>
                <a:cs typeface="DejaVu Sans Mono"/>
              </a:rPr>
              <a:t>  const depois = objeto.getWorldPosition(new Vector3());</a:t>
            </a:r>
          </a:p>
          <a:p xmlns:a="http://schemas.openxmlformats.org/drawingml/2006/main">
            <a:pPr>
              <a:defRPr sz="1800" b="0">
                <a:solidFill>
                  <a:srgbClr val="16242E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16242E"/>
                </a:solidFill>
                <a:latin typeface="DejaVu Sans Mono"/>
                <a:ea typeface="DejaVu Sans Mono"/>
                <a:cs typeface="DejaVu Sans Mono"/>
              </a:rPr>
              <a:t>  const erro = antes.distanceTo(depois);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C8D357-347A-4E0A-99B6-0783A2E4F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839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A65337"/>
                </a:solidFill>
                <a:latin typeface="Nimbus Sans"/>
                <a:ea typeface="Nimbus Sans"/>
                <a:cs typeface="Nimbus Sans"/>
              </a:defRPr>
            </a:pPr>
            <a:r>
              <a:rPr sz="2325" b="1">
                <a:solidFill>
                  <a:srgbClr val="A65337"/>
                </a:solidFill>
                <a:latin typeface="Nimbus Sans"/>
                <a:ea typeface="Nimbus Sans"/>
                <a:cs typeface="Nimbus Sans"/>
              </a:rPr>
              <a:t>M_local_nova = inversa(M_novo_pai) × M_mundo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609600" y="3648075"/>
          <a:ext xmlns:a="http://schemas.openxmlformats.org/drawingml/2006/main" cx="7067550" cy="1752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38350"/>
                <a:gridCol w="2514600"/>
                <a:gridCol w="2514600"/>
              </a:tblGrid>
              <a:tr h="4381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Prato 1 (m)</a:t>
                      </a:r>
                    </a:p>
                  </a:txBody>
                  <a:tcPr marL="114300" marR="95250" marT="95250" marB="76200">
                    <a:solidFill>
                      <a:srgbClr val="1624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Antes</a:t>
                      </a:r>
                    </a:p>
                  </a:txBody>
                  <a:tcPr marL="114300" marR="95250" marT="95250" marB="76200">
                    <a:solidFill>
                      <a:srgbClr val="1624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Depois</a:t>
                      </a:r>
                    </a:p>
                  </a:txBody>
                  <a:tcPr marL="114300" marR="95250" marT="95250" marB="76200">
                    <a:solidFill>
                      <a:srgbClr val="16242E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6242E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X</a:t>
                      </a:r>
                    </a:p>
                  </a:txBody>
                  <a:tcPr marL="114300" marR="95250" marT="95250" marB="76200">
                    <a:solidFill>
                      <a:srgbClr val="F4F1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6242E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-1.750000</a:t>
                      </a:r>
                    </a:p>
                  </a:txBody>
                  <a:tcPr marL="114300" marR="95250" marT="95250" marB="76200">
                    <a:solidFill>
                      <a:srgbClr val="F4F1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6242E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-1.750000</a:t>
                      </a:r>
                    </a:p>
                  </a:txBody>
                  <a:tcPr marL="114300" marR="95250" marT="95250" marB="76200">
                    <a:solidFill>
                      <a:srgbClr val="F4F1E9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6242E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Y</a:t>
                      </a:r>
                    </a:p>
                  </a:txBody>
                  <a:tcPr marL="114300" marR="95250" marT="95250" marB="76200">
                    <a:solidFill>
                      <a:srgbClr val="F4F1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6242E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0.761000</a:t>
                      </a:r>
                    </a:p>
                  </a:txBody>
                  <a:tcPr marL="114300" marR="95250" marT="95250" marB="76200">
                    <a:solidFill>
                      <a:srgbClr val="F4F1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6242E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0.761000</a:t>
                      </a:r>
                    </a:p>
                  </a:txBody>
                  <a:tcPr marL="114300" marR="95250" marT="95250" marB="76200">
                    <a:solidFill>
                      <a:srgbClr val="F4F1E9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6242E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Z</a:t>
                      </a:r>
                    </a:p>
                  </a:txBody>
                  <a:tcPr marL="114300" marR="95250" marT="95250" marB="76200">
                    <a:solidFill>
                      <a:srgbClr val="F4F1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6242E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0.300000</a:t>
                      </a:r>
                    </a:p>
                  </a:txBody>
                  <a:tcPr marL="114300" marR="95250" marT="95250" marB="76200">
                    <a:solidFill>
                      <a:srgbClr val="F4F1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6242E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0.300000</a:t>
                      </a:r>
                    </a:p>
                  </a:txBody>
                  <a:tcPr marL="114300" marR="95250" marT="95250" marB="76200">
                    <a:solidFill>
                      <a:srgbClr val="F4F1E9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35BE8A-4668-4EEB-B99E-63E018B57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695700"/>
            <a:ext cx="3238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52626D"/>
                </a:solidFill>
                <a:latin typeface="Nimbus Sans"/>
                <a:ea typeface="Nimbus Sans"/>
                <a:cs typeface="Nimbus Sans"/>
              </a:defRPr>
            </a:pPr>
            <a:r>
              <a:rPr sz="1950" b="0">
                <a:solidFill>
                  <a:srgbClr val="52626D"/>
                </a:solidFill>
                <a:latin typeface="Nimbus Sans"/>
                <a:ea typeface="Nimbus Sans"/>
                <a:cs typeface="Nimbus Sans"/>
              </a:rPr>
              <a:t>Erro medido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510257-4423-477D-9832-04650B499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152900"/>
            <a:ext cx="333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16242E"/>
                </a:solidFill>
                <a:latin typeface="Nimbus Sans"/>
                <a:ea typeface="Nimbus Sans"/>
                <a:cs typeface="Nimbus Sans"/>
              </a:defRPr>
            </a:pPr>
            <a:r>
              <a:rPr sz="2625" b="1">
                <a:solidFill>
                  <a:srgbClr val="16242E"/>
                </a:solidFill>
                <a:latin typeface="Nimbus Sans"/>
                <a:ea typeface="Nimbus Sans"/>
                <a:cs typeface="Nimbus Sans"/>
              </a:rPr>
              <a:t>2.289e-16 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692FBF-FE91-4B35-8269-BDDAB5191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857750"/>
            <a:ext cx="333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6242E"/>
                </a:solidFill>
                <a:latin typeface="Nimbus Sans"/>
                <a:ea typeface="Nimbus Sans"/>
                <a:cs typeface="Nimbus Sans"/>
              </a:defRPr>
            </a:pPr>
            <a:r>
              <a:rPr sz="1875" b="0">
                <a:solidFill>
                  <a:srgbClr val="16242E"/>
                </a:solidFill>
                <a:latin typeface="Nimbus Sans"/>
                <a:ea typeface="Nimbus Sans"/>
                <a:cs typeface="Nimbus Sans"/>
              </a:rPr>
              <a:t>Escala uniforme.</a:t>
            </a:r>
          </a:p>
          <a:p xmlns:a="http://schemas.openxmlformats.org/drawingml/2006/main">
            <a:pPr>
              <a:defRPr sz="1875" b="0">
                <a:solidFill>
                  <a:srgbClr val="16242E"/>
                </a:solidFill>
                <a:latin typeface="Nimbus Sans"/>
                <a:ea typeface="Nimbus Sans"/>
                <a:cs typeface="Nimbus Sans"/>
              </a:defRPr>
            </a:pPr>
            <a:r>
              <a:rPr sz="1875" b="0">
                <a:solidFill>
                  <a:srgbClr val="16242E"/>
                </a:solidFill>
                <a:latin typeface="Nimbus Sans"/>
                <a:ea typeface="Nimbus Sans"/>
                <a:cs typeface="Nimbus Sans"/>
              </a:rPr>
              <a:t>Ciclos recusados.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A737AC-E339-427C-90A8-52E9815D7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A65337"/>
                </a:solidFill>
                <a:latin typeface="Nimbus Sans"/>
                <a:ea typeface="Nimbus Sans"/>
                <a:cs typeface="Nimbus Sans"/>
              </a:defRPr>
            </a:pPr>
            <a:r>
              <a:rPr sz="1800" b="0">
                <a:solidFill>
                  <a:srgbClr val="A65337"/>
                </a:solidFill>
                <a:latin typeface="Nimbus Sans"/>
                <a:ea typeface="Nimbus Sans"/>
                <a:cs typeface="Nimbus Sans"/>
              </a:rPr>
              <a:t>Alternativa: copiar pose a cada quadro. Descarte: dependeria da ordem de atualização entre objetos.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2F3CB2-7C97-478D-9C0B-069BEF11A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66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26D"/>
                </a:solidFill>
                <a:latin typeface="Nimbus Sans"/>
                <a:ea typeface="Nimbus Sans"/>
                <a:cs typeface="Nimbus Sans"/>
              </a:defRPr>
            </a:pPr>
            <a:r>
              <a:rPr sz="1125" b="0">
                <a:solidFill>
                  <a:srgbClr val="52626D"/>
                </a:solidFill>
                <a:latin typeface="Nimbus Sans"/>
                <a:ea typeface="Nimbus Sans"/>
                <a:cs typeface="Nimbus Sans"/>
              </a:rPr>
              <a:t>ts/src/bateria/hierarquia.ts; docs/evidencias/browser.json; ts/test/modulo03.mjs</a:t>
            </a:r>
          </a:p>
        </p:txBody>
      </p:sp>
    </p:spTree>
    <p:extLst>
      <p:ext uri="{BB962C8B-B14F-4D97-AF65-F5344CB8AC3E}">
        <p14:creationId xmlns:p14="http://schemas.microsoft.com/office/powerpoint/2010/main" val="56187208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018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141251-04E3-4B98-BC96-A0118B338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4F1E9"/>
                </a:solidFill>
                <a:latin typeface="Nimbus Sans"/>
                <a:ea typeface="Nimbus Sans"/>
                <a:cs typeface="Nimbus Sans"/>
              </a:defRPr>
            </a:pPr>
            <a:r>
              <a:rPr sz="3450" b="1">
                <a:solidFill>
                  <a:srgbClr val="F4F1E9"/>
                </a:solidFill>
                <a:latin typeface="Nimbus Sans"/>
                <a:ea typeface="Nimbus Sans"/>
                <a:cs typeface="Nimbus Sans"/>
              </a:rPr>
              <a:t>Relógio, orçamento e o que falta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1A4D05-944B-478A-A18A-0404B9BBD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47675"/>
            <a:ext cx="38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FC1C9"/>
                </a:solidFill>
                <a:latin typeface="Nimbus Sans"/>
                <a:ea typeface="Nimbus Sans"/>
                <a:cs typeface="Nimbus Sans"/>
              </a:defRPr>
            </a:pPr>
            <a:r>
              <a:rPr sz="1650" b="0">
                <a:solidFill>
                  <a:srgbClr val="AFC1C9"/>
                </a:solidFill>
                <a:latin typeface="Nimbus Sans"/>
                <a:ea typeface="Nimbus Sans"/>
                <a:cs typeface="Nimbus Sans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3815CB-63A6-4F4E-B9D4-9FCC56DD9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65722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DDE9E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0">
                <a:solidFill>
                  <a:srgbClr val="DDE9EC"/>
                </a:solidFill>
                <a:latin typeface="DejaVu Sans Mono"/>
                <a:ea typeface="DejaVu Sans Mono"/>
                <a:cs typeface="DejaVu Sans Mono"/>
              </a:rPr>
              <a:t>  const { delta, intervaloMs } =</a:t>
            </a:r>
          </a:p>
          <a:p xmlns:a="http://schemas.openxmlformats.org/drawingml/2006/main">
            <a:pPr>
              <a:defRPr sz="1650" b="0">
                <a:solidFill>
                  <a:srgbClr val="DDE9E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0">
                <a:solidFill>
                  <a:srgbClr val="DDE9EC"/>
                </a:solidFill>
                <a:latin typeface="DejaVu Sans Mono"/>
                <a:ea typeface="DejaVu Sans Mono"/>
                <a:cs typeface="DejaVu Sans Mono"/>
              </a:rPr>
              <a:t>    relogio.avancar(instanteMs);</a:t>
            </a:r>
          </a:p>
          <a:p xmlns:a="http://schemas.openxmlformats.org/drawingml/2006/main">
            <a:pPr>
              <a:defRPr sz="1650" b="0">
                <a:solidFill>
                  <a:srgbClr val="DDE9E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0">
                <a:solidFill>
                  <a:srgbClr val="DDE9EC"/>
                </a:solidFill>
                <a:latin typeface="DejaVu Sans Mono"/>
                <a:ea typeface="DejaVu Sans Mono"/>
                <a:cs typeface="DejaVu Sans Mono"/>
              </a:rPr>
              <a:t>  if (movimento) tempoDoMovimento += delta;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683908-FD3D-45CA-B7F8-0CC172068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323975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AFC1C9"/>
                </a:solidFill>
                <a:latin typeface="Nimbus Sans"/>
                <a:ea typeface="Nimbus Sans"/>
                <a:cs typeface="Nimbus Sans"/>
              </a:defRPr>
            </a:pPr>
            <a:r>
              <a:rPr sz="1800" b="0">
                <a:solidFill>
                  <a:srgbClr val="AFC1C9"/>
                </a:solidFill>
                <a:latin typeface="Nimbus Sans"/>
                <a:ea typeface="Nimbus Sans"/>
                <a:cs typeface="Nimbus Sans"/>
              </a:rPr>
              <a:t>CPU média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F59551-4046-4ABF-85C6-D892F7E03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704975"/>
            <a:ext cx="30480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4F1E9"/>
                </a:solidFill>
                <a:latin typeface="Nimbus Sans"/>
                <a:ea typeface="Nimbus Sans"/>
                <a:cs typeface="Nimbus Sans"/>
              </a:defRPr>
            </a:pPr>
            <a:r>
              <a:rPr sz="3600" b="1">
                <a:solidFill>
                  <a:srgbClr val="F4F1E9"/>
                </a:solidFill>
                <a:latin typeface="Nimbus Sans"/>
                <a:ea typeface="Nimbus Sans"/>
                <a:cs typeface="Nimbus Sans"/>
              </a:rPr>
              <a:t>1,10 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EE6025-135A-4162-A6BE-F2CEA29AC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28875"/>
            <a:ext cx="36195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DDB38D"/>
                </a:solidFill>
                <a:latin typeface="Nimbus Sans"/>
                <a:ea typeface="Nimbus Sans"/>
                <a:cs typeface="Nimbus Sans"/>
              </a:defRPr>
            </a:pPr>
            <a:r>
              <a:rPr sz="2175" b="0">
                <a:solidFill>
                  <a:srgbClr val="DDB38D"/>
                </a:solidFill>
                <a:latin typeface="Nimbus Sans"/>
                <a:ea typeface="Nimbus Sans"/>
                <a:cs typeface="Nimbus Sans"/>
              </a:rPr>
              <a:t>Intervalo 16,67 ms</a:t>
            </a:r>
          </a:p>
          <a:p xmlns:a="http://schemas.openxmlformats.org/drawingml/2006/main">
            <a:pPr>
              <a:defRPr sz="2175" b="0">
                <a:solidFill>
                  <a:srgbClr val="DDB38D"/>
                </a:solidFill>
                <a:latin typeface="Nimbus Sans"/>
                <a:ea typeface="Nimbus Sans"/>
                <a:cs typeface="Nimbus Sans"/>
              </a:defRPr>
            </a:pPr>
            <a:r>
              <a:rPr sz="2175" b="0">
                <a:solidFill>
                  <a:srgbClr val="DDB38D"/>
                </a:solidFill>
                <a:latin typeface="Nimbus Sans"/>
                <a:ea typeface="Nimbus Sans"/>
                <a:cs typeface="Nimbus Sans"/>
              </a:rPr>
              <a:t>Teto 16,67 ms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6d4b5c08dc488d"/>
          <a:stretch xmlns:a="http://schemas.openxmlformats.org/drawingml/2006/main"/>
        </p:blipFill>
        <p:spPr>
          <a:xfrm xmlns:a="http://schemas.openxmlformats.org/drawingml/2006/main">
            <a:off x="610160" y="2533650"/>
            <a:ext cx="2437279" cy="1714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462285-E18F-405D-80DF-F8EB58894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676525"/>
            <a:ext cx="39052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DDE9EC"/>
                </a:solidFill>
                <a:latin typeface="Nimbus Sans"/>
                <a:ea typeface="Nimbus Sans"/>
                <a:cs typeface="Nimbus Sans"/>
              </a:defRPr>
            </a:pPr>
            <a:r>
              <a:rPr sz="1725" b="0">
                <a:solidFill>
                  <a:srgbClr val="DDE9EC"/>
                </a:solidFill>
                <a:latin typeface="Nimbus Sans"/>
                <a:ea typeface="Nimbus Sans"/>
                <a:cs typeface="Nimbus Sans"/>
              </a:rPr>
              <a:t>Painel na estrutura.</a:t>
            </a:r>
          </a:p>
          <a:p xmlns:a="http://schemas.openxmlformats.org/drawingml/2006/main">
            <a:pPr>
              <a:defRPr sz="1725" b="0">
                <a:solidFill>
                  <a:srgbClr val="DDE9EC"/>
                </a:solidFill>
                <a:latin typeface="Nimbus Sans"/>
                <a:ea typeface="Nimbus Sans"/>
                <a:cs typeface="Nimbus Sans"/>
              </a:defRPr>
            </a:pPr>
            <a:r>
              <a:rPr sz="1725" b="0">
                <a:solidFill>
                  <a:srgbClr val="DDE9EC"/>
                </a:solidFill>
                <a:latin typeface="Nimbus Sans"/>
                <a:ea typeface="Nimbus Sans"/>
                <a:cs typeface="Nimbus Sans"/>
              </a:rPr>
              <a:t>Até 120 amostras.</a:t>
            </a:r>
          </a:p>
          <a:p xmlns:a="http://schemas.openxmlformats.org/drawingml/2006/main">
            <a:pPr>
              <a:defRPr sz="1725" b="0">
                <a:solidFill>
                  <a:srgbClr val="DDE9EC"/>
                </a:solidFill>
                <a:latin typeface="Nimbus Sans"/>
                <a:ea typeface="Nimbus Sans"/>
                <a:cs typeface="Nimbus Sans"/>
              </a:defRPr>
            </a:pPr>
            <a:r>
              <a:rPr sz="1725" b="0">
                <a:solidFill>
                  <a:srgbClr val="DDE9EC"/>
                </a:solidFill>
                <a:latin typeface="Nimbus Sans"/>
                <a:ea typeface="Nimbus Sans"/>
                <a:cs typeface="Nimbus Sans"/>
              </a:rPr>
              <a:t>Notebook Dell Inspiron 15,</a:t>
            </a:r>
          </a:p>
          <a:p xmlns:a="http://schemas.openxmlformats.org/drawingml/2006/main">
            <a:pPr>
              <a:defRPr sz="1725" b="0">
                <a:solidFill>
                  <a:srgbClr val="DDE9EC"/>
                </a:solidFill>
                <a:latin typeface="Nimbus Sans"/>
                <a:ea typeface="Nimbus Sans"/>
                <a:cs typeface="Nimbus Sans"/>
              </a:defRPr>
            </a:pPr>
            <a:r>
              <a:rPr sz="1725" b="0">
                <a:solidFill>
                  <a:srgbClr val="DDE9EC"/>
                </a:solidFill>
                <a:latin typeface="Nimbus Sans"/>
                <a:ea typeface="Nimbus Sans"/>
                <a:cs typeface="Nimbus Sans"/>
              </a:rPr>
              <a:t>i5-1334U, Iris Xe,</a:t>
            </a:r>
          </a:p>
          <a:p xmlns:a="http://schemas.openxmlformats.org/drawingml/2006/main">
            <a:pPr>
              <a:defRPr sz="1725" b="0">
                <a:solidFill>
                  <a:srgbClr val="DDE9EC"/>
                </a:solidFill>
                <a:latin typeface="Nimbus Sans"/>
                <a:ea typeface="Nimbus Sans"/>
                <a:cs typeface="Nimbus Sans"/>
              </a:defRPr>
            </a:pPr>
            <a:r>
              <a:rPr sz="1725" b="0">
                <a:solidFill>
                  <a:srgbClr val="DDE9EC"/>
                </a:solidFill>
                <a:latin typeface="Nimbus Sans"/>
                <a:ea typeface="Nimbus Sans"/>
                <a:cs typeface="Nimbus Sans"/>
              </a:rPr>
              <a:t>Chrome 153, tela de 60 Hz.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DB2CEC-2E20-4EF0-ACB9-20FF3941F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95775"/>
            <a:ext cx="2552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FC1C9"/>
                </a:solidFill>
                <a:latin typeface="Nimbus Sans"/>
                <a:ea typeface="Nimbus Sans"/>
                <a:cs typeface="Nimbus Sans"/>
              </a:defRPr>
            </a:pPr>
            <a:r>
              <a:rPr sz="1125" b="0">
                <a:solidFill>
                  <a:srgbClr val="AFC1C9"/>
                </a:solidFill>
                <a:latin typeface="Nimbus Sans"/>
                <a:ea typeface="Nimbus Sans"/>
                <a:cs typeface="Nimbus Sans"/>
              </a:rPr>
              <a:t>Captura do painel em execução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B5CDDF-592D-4923-83B7-4B899E493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324225"/>
            <a:ext cx="3552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AFC1C9"/>
                </a:solidFill>
                <a:latin typeface="Nimbus Sans"/>
                <a:ea typeface="Nimbus Sans"/>
                <a:cs typeface="Nimbus Sans"/>
              </a:defRPr>
            </a:pPr>
            <a:r>
              <a:rPr sz="1500" b="0">
                <a:solidFill>
                  <a:srgbClr val="AFC1C9"/>
                </a:solidFill>
                <a:latin typeface="Nimbus Sans"/>
                <a:ea typeface="Nimbus Sans"/>
                <a:cs typeface="Nimbus Sans"/>
              </a:rPr>
              <a:t>Celular POCO X5 Pro: 0,56 / 16,36 ms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DB24F7-24F5-4A8A-ACAF-88518436E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43425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F4F1E9"/>
                </a:solidFill>
                <a:latin typeface="Nimbus Sans"/>
                <a:ea typeface="Nimbus Sans"/>
                <a:cs typeface="Nimbus Sans"/>
              </a:defRPr>
            </a:pPr>
            <a:r>
              <a:rPr sz="2325" b="1">
                <a:solidFill>
                  <a:srgbClr val="F4F1E9"/>
                </a:solidFill>
                <a:latin typeface="Nimbus Sans"/>
                <a:ea typeface="Nimbus Sans"/>
                <a:cs typeface="Nimbus Sans"/>
              </a:rPr>
              <a:t>Pendências da entrega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290F2C-0A29-4B9F-AFC9-AF4E73B97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14900"/>
            <a:ext cx="10953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DDE9EC"/>
                </a:solidFill>
                <a:latin typeface="Nimbus Sans"/>
                <a:ea typeface="Nimbus Sans"/>
                <a:cs typeface="Nimbus Sans"/>
              </a:defRPr>
            </a:pPr>
            <a:r>
              <a:rPr sz="1725" b="0">
                <a:solidFill>
                  <a:srgbClr val="DDE9EC"/>
                </a:solidFill>
                <a:latin typeface="Nimbus Sans"/>
                <a:ea typeface="Nimbus Sans"/>
                <a:cs typeface="Nimbus Sans"/>
              </a:rPr>
              <a:t>Publicar a etiqueta; sonda rotula o celular como visor (correção adiada).</a:t>
            </a:r>
          </a:p>
          <a:p xmlns:a="http://schemas.openxmlformats.org/drawingml/2006/main">
            <a:pPr>
              <a:defRPr sz="1725" b="0">
                <a:solidFill>
                  <a:srgbClr val="DDE9EC"/>
                </a:solidFill>
                <a:latin typeface="Nimbus Sans"/>
                <a:ea typeface="Nimbus Sans"/>
                <a:cs typeface="Nimbus Sans"/>
              </a:defRPr>
            </a:pPr>
            <a:r>
              <a:rPr sz="1725" b="0">
                <a:solidFill>
                  <a:srgbClr val="DDE9EC"/>
                </a:solidFill>
                <a:latin typeface="Nimbus Sans"/>
                <a:ea typeface="Nimbus Sans"/>
                <a:cs typeface="Nimbus Sans"/>
              </a:rPr>
              <a:t>Intervalo no teto no notebook (tela de 60 Hz); GPU não cronometrada.</a:t>
            </a:r>
          </a:p>
          <a:p xmlns:a="http://schemas.openxmlformats.org/drawingml/2006/main">
            <a:pPr>
              <a:defRPr sz="1725" b="0">
                <a:solidFill>
                  <a:srgbClr val="DDE9EC"/>
                </a:solidFill>
                <a:latin typeface="Nimbus Sans"/>
                <a:ea typeface="Nimbus Sans"/>
                <a:cs typeface="Nimbus Sans"/>
              </a:defRPr>
            </a:pPr>
            <a:r>
              <a:rPr sz="1725" b="0">
                <a:solidFill>
                  <a:srgbClr val="DDE9EC"/>
                </a:solidFill>
                <a:latin typeface="Nimbus Sans"/>
                <a:ea typeface="Nimbus Sans"/>
                <a:cs typeface="Nimbus Sans"/>
              </a:rPr>
              <a:t>Faltam execução por alguém de fora do grupo e ensaio cruzado.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2204BF-6AB3-45C1-B6F6-B7616C4D6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DDB38D"/>
                </a:solidFill>
                <a:latin typeface="Nimbus Sans"/>
                <a:ea typeface="Nimbus Sans"/>
                <a:cs typeface="Nimbus Sans"/>
              </a:defRPr>
            </a:pPr>
            <a:r>
              <a:rPr sz="1800" b="0">
                <a:solidFill>
                  <a:srgbClr val="DDB38D"/>
                </a:solidFill>
                <a:latin typeface="Nimbus Sans"/>
                <a:ea typeface="Nimbus Sans"/>
                <a:cs typeface="Nimbus Sans"/>
              </a:rPr>
              <a:t>Alternativa: contar quadros. Descarte: uma máquina mais rápida faria a animação avançar mais rápido.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4739B1-7FFF-43D1-929E-31FDF975E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66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FC1C9"/>
                </a:solidFill>
                <a:latin typeface="Nimbus Sans"/>
                <a:ea typeface="Nimbus Sans"/>
                <a:cs typeface="Nimbus Sans"/>
              </a:defRPr>
            </a:pPr>
            <a:r>
              <a:rPr sz="1125" b="0">
                <a:solidFill>
                  <a:srgbClr val="AFC1C9"/>
                </a:solidFill>
                <a:latin typeface="Nimbus Sans"/>
                <a:ea typeface="Nimbus Sans"/>
                <a:cs typeface="Nimbus Sans"/>
              </a:rPr>
              <a:t>ts/src/main.ts; ts/src/bateria/tempo.ts; docs/evidencias/{medicao-pc.json, medicao-celular.json, painel-pc.png}</a:t>
            </a:r>
          </a:p>
        </p:txBody>
      </p:sp>
    </p:spTree>
    <p:extLst>
      <p:ext uri="{BB962C8B-B14F-4D97-AF65-F5344CB8AC3E}">
        <p14:creationId xmlns:p14="http://schemas.microsoft.com/office/powerpoint/2010/main" val="35806194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2026-09-24T00:06:26.1820000Z</dcterms:created>
  <dcterms:modified xsi:type="dcterms:W3CDTF">2026-09-24T00:06:26.1820000Z</dcterms:modified>
</coreProperties>
</file>